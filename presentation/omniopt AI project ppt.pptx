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16"/>
  </p:notesMasterIdLst>
  <p:handoutMasterIdLst>
    <p:handoutMasterId r:id="rId17"/>
  </p:handoutMasterIdLst>
  <p:sldIdLst>
    <p:sldId id="256" r:id="rId2"/>
    <p:sldId id="301" r:id="rId3"/>
    <p:sldId id="347" r:id="rId4"/>
    <p:sldId id="358" r:id="rId5"/>
    <p:sldId id="357" r:id="rId6"/>
    <p:sldId id="360" r:id="rId7"/>
    <p:sldId id="318" r:id="rId8"/>
    <p:sldId id="359" r:id="rId9"/>
    <p:sldId id="363" r:id="rId10"/>
    <p:sldId id="350" r:id="rId11"/>
    <p:sldId id="362" r:id="rId12"/>
    <p:sldId id="365" r:id="rId13"/>
    <p:sldId id="364" r:id="rId14"/>
    <p:sldId id="361"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95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B9D9"/>
    <a:srgbClr val="FFFF99"/>
    <a:srgbClr val="FFFF66"/>
    <a:srgbClr val="96B8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29" autoAdjust="0"/>
    <p:restoredTop sz="94635" autoAdjust="0"/>
  </p:normalViewPr>
  <p:slideViewPr>
    <p:cSldViewPr snapToGrid="0" showGuides="1">
      <p:cViewPr varScale="1">
        <p:scale>
          <a:sx n="140" d="100"/>
          <a:sy n="140" d="100"/>
        </p:scale>
        <p:origin x="744" y="184"/>
      </p:cViewPr>
      <p:guideLst>
        <p:guide orient="horz" pos="1620"/>
        <p:guide pos="2956"/>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BAA75-FEA1-415B-ADEB-E61961CF21E2}" type="datetimeFigureOut">
              <a:rPr lang="en-US" smtClean="0"/>
              <a:pPr/>
              <a:t>7/29/26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CE23D1005 Monthly Presentation 1</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34F975-11FD-49CB-9215-F4F8867AA56E}" type="slidenum">
              <a:rPr lang="en-US" smtClean="0"/>
              <a:pPr/>
              <a:t>‹#›</a:t>
            </a:fld>
            <a:endParaRPr lang="en-US"/>
          </a:p>
        </p:txBody>
      </p:sp>
    </p:spTree>
    <p:extLst>
      <p:ext uri="{BB962C8B-B14F-4D97-AF65-F5344CB8AC3E}">
        <p14:creationId xmlns:p14="http://schemas.microsoft.com/office/powerpoint/2010/main" val="129724760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41646880"/>
      </p:ext>
    </p:extLst>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alphaModFix amt="0"/>
            <a:lum/>
          </a:blip>
          <a:srcRect/>
          <a:stretch>
            <a:fillRect t="-39000" b="-39000"/>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Shape 53"/>
        <p:cNvGrpSpPr/>
        <p:nvPr/>
      </p:nvGrpSpPr>
      <p:grpSpPr>
        <a:xfrm>
          <a:off x="0" y="0"/>
          <a:ext cx="0" cy="0"/>
          <a:chOff x="0" y="0"/>
          <a:chExt cx="0" cy="0"/>
        </a:xfrm>
      </p:grpSpPr>
      <p:sp>
        <p:nvSpPr>
          <p:cNvPr id="6" name="Rectangle 5"/>
          <p:cNvSpPr/>
          <p:nvPr/>
        </p:nvSpPr>
        <p:spPr>
          <a:xfrm>
            <a:off x="924791" y="1963746"/>
            <a:ext cx="7475497" cy="761893"/>
          </a:xfrm>
          <a:prstGeom prst="rect">
            <a:avLst/>
          </a:prstGeom>
          <a:solidFill>
            <a:schemeClr val="bg1"/>
          </a:solidFill>
          <a:effectLst>
            <a:glow rad="228600">
              <a:schemeClr val="accent6">
                <a:satMod val="175000"/>
                <a:alpha val="40000"/>
              </a:schemeClr>
            </a:glow>
            <a:outerShdw blurRad="40000" dist="20000" dir="5400000" rotWithShape="0">
              <a:srgbClr val="000000">
                <a:alpha val="38000"/>
              </a:srgb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ltLang="en-US" sz="2000" b="1" dirty="0">
              <a:solidFill>
                <a:srgbClr val="C00000"/>
              </a:solidFill>
              <a:latin typeface="Book Antiqua" panose="02040602050305030304" pitchFamily="18" charset="0"/>
            </a:endParaRPr>
          </a:p>
          <a:p>
            <a:pPr algn="ctr"/>
            <a:r>
              <a:rPr lang="en-US" altLang="en-US" sz="2000" b="1" dirty="0" err="1">
                <a:solidFill>
                  <a:srgbClr val="C00000"/>
                </a:solidFill>
                <a:latin typeface="Times New Roman" pitchFamily="18" charset="0"/>
                <a:cs typeface="Times New Roman" pitchFamily="18" charset="0"/>
              </a:rPr>
              <a:t>OmniOpt</a:t>
            </a:r>
            <a:r>
              <a:rPr lang="en-US" altLang="en-US" sz="2000" b="1" dirty="0">
                <a:solidFill>
                  <a:srgbClr val="C00000"/>
                </a:solidFill>
                <a:latin typeface="Times New Roman" pitchFamily="18" charset="0"/>
                <a:cs typeface="Times New Roman" pitchFamily="18" charset="0"/>
              </a:rPr>
              <a:t> AI — Predictive Logistics &amp; Fulfillment Platform</a:t>
            </a:r>
          </a:p>
          <a:p>
            <a:pPr algn="ctr"/>
            <a:endParaRPr lang="en-US" altLang="en-US" sz="2000" b="1" dirty="0">
              <a:solidFill>
                <a:srgbClr val="C00000"/>
              </a:solidFill>
              <a:latin typeface="Book Antiqua" panose="02040602050305030304" pitchFamily="18" charset="0"/>
            </a:endParaRPr>
          </a:p>
        </p:txBody>
      </p:sp>
      <p:sp>
        <p:nvSpPr>
          <p:cNvPr id="7" name="TextBox 6"/>
          <p:cNvSpPr txBox="1"/>
          <p:nvPr/>
        </p:nvSpPr>
        <p:spPr>
          <a:xfrm>
            <a:off x="793742" y="0"/>
            <a:ext cx="7809929" cy="1207638"/>
          </a:xfrm>
          <a:prstGeom prst="rect">
            <a:avLst/>
          </a:prstGeom>
          <a:noFill/>
        </p:spPr>
        <p:txBody>
          <a:bodyPr wrap="square">
            <a:spAutoFit/>
          </a:bodyPr>
          <a:lstStyle/>
          <a:p>
            <a:pPr indent="180340" algn="ctr">
              <a:lnSpc>
                <a:spcPct val="115000"/>
              </a:lnSpc>
              <a:spcBef>
                <a:spcPts val="900"/>
              </a:spcBef>
              <a:spcAft>
                <a:spcPts val="300"/>
              </a:spcAft>
            </a:pPr>
            <a:r>
              <a:rPr lang="en-IN" sz="2400" b="1" dirty="0">
                <a:latin typeface="Book Antiqua" panose="02040602050305030304" pitchFamily="18" charset="0"/>
                <a:ea typeface="Calibri" panose="020F0502020204030204"/>
                <a:cs typeface="Times New Roman" panose="02020603050405020304"/>
              </a:rPr>
              <a:t>E.G.S. Pillay Engineering College</a:t>
            </a:r>
          </a:p>
          <a:p>
            <a:pPr indent="270510" algn="ctr">
              <a:lnSpc>
                <a:spcPct val="115000"/>
              </a:lnSpc>
              <a:spcAft>
                <a:spcPts val="300"/>
              </a:spcAft>
            </a:pPr>
            <a:r>
              <a:rPr lang="en-IN" sz="1100" dirty="0">
                <a:latin typeface="Book Antiqua" panose="02040602050305030304" pitchFamily="18" charset="0"/>
                <a:ea typeface="Calibri" panose="020F0502020204030204"/>
                <a:cs typeface="Times New Roman" panose="02020603050405020304"/>
              </a:rPr>
              <a:t>An Autonomous Institution Affiliated to Anna University, Chennai | Approved by AICTE, New Delhi</a:t>
            </a:r>
            <a:endParaRPr lang="en-US" sz="1600" dirty="0">
              <a:latin typeface="Book Antiqua" panose="02040602050305030304" pitchFamily="18" charset="0"/>
              <a:ea typeface="Calibri" panose="020F0502020204030204"/>
              <a:cs typeface="Times New Roman" panose="02020603050405020304"/>
            </a:endParaRPr>
          </a:p>
          <a:p>
            <a:pPr indent="270510" algn="ctr">
              <a:lnSpc>
                <a:spcPct val="115000"/>
              </a:lnSpc>
              <a:spcAft>
                <a:spcPts val="300"/>
              </a:spcAft>
            </a:pPr>
            <a:r>
              <a:rPr lang="en-IN" sz="1100" dirty="0">
                <a:latin typeface="Book Antiqua" panose="02040602050305030304" pitchFamily="18" charset="0"/>
                <a:ea typeface="Calibri" panose="020F0502020204030204"/>
                <a:cs typeface="Times New Roman" panose="02020603050405020304"/>
              </a:rPr>
              <a:t>Accredited by NAAC with A++ Grade | Accredited by NBA T1 (B.E. – CIVIL,MECH,EEE,CSE,ECE &amp; </a:t>
            </a:r>
            <a:r>
              <a:rPr lang="en-IN" sz="1100" dirty="0" err="1">
                <a:latin typeface="Book Antiqua" panose="02040602050305030304" pitchFamily="18" charset="0"/>
                <a:ea typeface="Calibri" panose="020F0502020204030204"/>
                <a:cs typeface="Times New Roman" panose="02020603050405020304"/>
              </a:rPr>
              <a:t>B.Tech</a:t>
            </a:r>
            <a:r>
              <a:rPr lang="en-IN" sz="1100" dirty="0">
                <a:latin typeface="Book Antiqua" panose="02040602050305030304" pitchFamily="18" charset="0"/>
                <a:ea typeface="Calibri" panose="020F0502020204030204"/>
                <a:cs typeface="Times New Roman" panose="02020603050405020304"/>
              </a:rPr>
              <a:t> – IT)</a:t>
            </a:r>
            <a:endParaRPr lang="en-US" sz="1600" dirty="0">
              <a:latin typeface="Book Antiqua" panose="02040602050305030304" pitchFamily="18" charset="0"/>
              <a:ea typeface="Calibri" panose="020F0502020204030204"/>
              <a:cs typeface="Times New Roman" panose="02020603050405020304"/>
            </a:endParaRPr>
          </a:p>
          <a:p>
            <a:pPr indent="270510" algn="ctr">
              <a:lnSpc>
                <a:spcPct val="115000"/>
              </a:lnSpc>
              <a:spcAft>
                <a:spcPts val="300"/>
              </a:spcAft>
            </a:pPr>
            <a:r>
              <a:rPr lang="en-IN" sz="1100" dirty="0">
                <a:latin typeface="Book Antiqua" panose="02040602050305030304" pitchFamily="18" charset="0"/>
                <a:ea typeface="Calibri" panose="020F0502020204030204"/>
                <a:cs typeface="Times New Roman" panose="02020603050405020304"/>
              </a:rPr>
              <a:t>Old </a:t>
            </a:r>
            <a:r>
              <a:rPr lang="en-IN" sz="1100" dirty="0" err="1">
                <a:latin typeface="Book Antiqua" panose="02040602050305030304" pitchFamily="18" charset="0"/>
                <a:ea typeface="Calibri" panose="020F0502020204030204"/>
                <a:cs typeface="Times New Roman" panose="02020603050405020304"/>
              </a:rPr>
              <a:t>Nagore</a:t>
            </a:r>
            <a:r>
              <a:rPr lang="en-IN" sz="1100" dirty="0">
                <a:latin typeface="Book Antiqua" panose="02040602050305030304" pitchFamily="18" charset="0"/>
                <a:ea typeface="Calibri" panose="020F0502020204030204"/>
                <a:cs typeface="Times New Roman" panose="02020603050405020304"/>
              </a:rPr>
              <a:t> Road, </a:t>
            </a:r>
            <a:r>
              <a:rPr lang="en-IN" sz="1100" dirty="0" err="1">
                <a:latin typeface="Book Antiqua" panose="02040602050305030304" pitchFamily="18" charset="0"/>
                <a:ea typeface="Calibri" panose="020F0502020204030204"/>
                <a:cs typeface="Times New Roman" panose="02020603050405020304"/>
              </a:rPr>
              <a:t>Thethi</a:t>
            </a:r>
            <a:r>
              <a:rPr lang="en-IN" sz="1100" dirty="0">
                <a:latin typeface="Book Antiqua" panose="02040602050305030304" pitchFamily="18" charset="0"/>
                <a:ea typeface="Calibri" panose="020F0502020204030204"/>
                <a:cs typeface="Times New Roman" panose="02020603050405020304"/>
              </a:rPr>
              <a:t>, </a:t>
            </a:r>
            <a:r>
              <a:rPr lang="en-IN" sz="1100" dirty="0" err="1">
                <a:latin typeface="Book Antiqua" panose="02040602050305030304" pitchFamily="18" charset="0"/>
                <a:ea typeface="Calibri" panose="020F0502020204030204"/>
                <a:cs typeface="Times New Roman" panose="02020603050405020304"/>
              </a:rPr>
              <a:t>Nagore</a:t>
            </a:r>
            <a:r>
              <a:rPr lang="en-IN" sz="1100" dirty="0">
                <a:latin typeface="Book Antiqua" panose="02040602050305030304" pitchFamily="18" charset="0"/>
                <a:ea typeface="Calibri" panose="020F0502020204030204"/>
                <a:cs typeface="Times New Roman" panose="02020603050405020304"/>
              </a:rPr>
              <a:t> Village, </a:t>
            </a:r>
            <a:r>
              <a:rPr lang="en-IN" sz="1100" dirty="0" err="1">
                <a:latin typeface="Book Antiqua" panose="02040602050305030304" pitchFamily="18" charset="0"/>
                <a:ea typeface="Calibri" panose="020F0502020204030204"/>
                <a:cs typeface="Times New Roman" panose="02020603050405020304"/>
              </a:rPr>
              <a:t>Nagapattinam</a:t>
            </a:r>
            <a:r>
              <a:rPr lang="en-IN" sz="1100" dirty="0">
                <a:latin typeface="Book Antiqua" panose="02040602050305030304" pitchFamily="18" charset="0"/>
                <a:ea typeface="Calibri" panose="020F0502020204030204"/>
                <a:cs typeface="Times New Roman" panose="02020603050405020304"/>
              </a:rPr>
              <a:t> – 611002, Tamil Nadu, India</a:t>
            </a:r>
            <a:endParaRPr lang="en-US" sz="1600" dirty="0">
              <a:latin typeface="Book Antiqua" panose="02040602050305030304" pitchFamily="18" charset="0"/>
              <a:ea typeface="Calibri" panose="020F0502020204030204"/>
              <a:cs typeface="Times New Roman" panose="02020603050405020304"/>
            </a:endParaRPr>
          </a:p>
        </p:txBody>
      </p:sp>
      <p:sp>
        <p:nvSpPr>
          <p:cNvPr id="9" name="Rectangle: Rounded Corners 8"/>
          <p:cNvSpPr/>
          <p:nvPr/>
        </p:nvSpPr>
        <p:spPr>
          <a:xfrm>
            <a:off x="1893570" y="3430270"/>
            <a:ext cx="5776595" cy="152590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lgn="ctr">
              <a:lnSpc>
                <a:spcPct val="95000"/>
              </a:lnSpc>
              <a:spcBef>
                <a:spcPts val="500"/>
              </a:spcBef>
              <a:buClr>
                <a:schemeClr val="dk1"/>
              </a:buClr>
              <a:buSzPts val="852"/>
            </a:pPr>
            <a:r>
              <a:rPr lang="en-IN" altLang="en-US" sz="1400" dirty="0">
                <a:solidFill>
                  <a:schemeClr val="tx1"/>
                </a:solidFill>
                <a:latin typeface="Book Antiqua" panose="02040602050305030304" pitchFamily="18" charset="0"/>
                <a:cs typeface="Times New Roman" panose="02020603050405020304" pitchFamily="18" charset="0"/>
              </a:rPr>
              <a:t>    </a:t>
            </a:r>
          </a:p>
          <a:p>
            <a:pPr marL="0" indent="0" algn="ctr">
              <a:lnSpc>
                <a:spcPct val="95000"/>
              </a:lnSpc>
              <a:spcBef>
                <a:spcPts val="500"/>
              </a:spcBef>
              <a:buClr>
                <a:schemeClr val="dk1"/>
              </a:buClr>
              <a:buSzPts val="852"/>
            </a:pPr>
            <a:r>
              <a:rPr lang="en-US" sz="1200" dirty="0">
                <a:solidFill>
                  <a:schemeClr val="tx1"/>
                </a:solidFill>
                <a:latin typeface="Book Antiqua" panose="02040602050305030304" pitchFamily="18" charset="0"/>
                <a:cs typeface="Times New Roman" panose="02020603050405020304" pitchFamily="18" charset="0"/>
              </a:rPr>
              <a:t>Presented by,</a:t>
            </a:r>
          </a:p>
          <a:p>
            <a:pPr lvl="7" algn="ctr">
              <a:lnSpc>
                <a:spcPct val="95000"/>
              </a:lnSpc>
              <a:spcBef>
                <a:spcPts val="500"/>
              </a:spcBef>
              <a:buClr>
                <a:schemeClr val="dk1"/>
              </a:buClr>
              <a:buSzPts val="852"/>
            </a:pPr>
            <a:r>
              <a:rPr lang="en-IN" altLang="en-US" sz="1200" b="1" dirty="0" err="1">
                <a:latin typeface="Times New Roman" panose="02020603050405020304" pitchFamily="18" charset="0"/>
                <a:cs typeface="Times New Roman" panose="02020603050405020304" pitchFamily="18" charset="0"/>
                <a:sym typeface="+mn-ea"/>
              </a:rPr>
              <a:t>Akash.M</a:t>
            </a:r>
            <a:r>
              <a:rPr lang="en-IN" altLang="en-US" sz="1200" b="1" dirty="0">
                <a:latin typeface="Times New Roman" panose="02020603050405020304" pitchFamily="18" charset="0"/>
                <a:cs typeface="Times New Roman" panose="02020603050405020304" pitchFamily="18" charset="0"/>
                <a:sym typeface="+mn-ea"/>
              </a:rPr>
              <a:t> (8208E23ASR006)</a:t>
            </a:r>
          </a:p>
          <a:p>
            <a:pPr lvl="7" algn="ctr">
              <a:lnSpc>
                <a:spcPct val="95000"/>
              </a:lnSpc>
              <a:spcBef>
                <a:spcPts val="500"/>
              </a:spcBef>
              <a:buClr>
                <a:schemeClr val="dk1"/>
              </a:buClr>
              <a:buSzPts val="852"/>
            </a:pPr>
            <a:r>
              <a:rPr lang="en-IN" altLang="en-US" sz="1200" b="1" dirty="0" err="1">
                <a:latin typeface="Times New Roman" panose="02020603050405020304" pitchFamily="18" charset="0"/>
                <a:cs typeface="Times New Roman" panose="02020603050405020304" pitchFamily="18" charset="0"/>
                <a:sym typeface="+mn-ea"/>
              </a:rPr>
              <a:t>Aglaya.B</a:t>
            </a:r>
            <a:r>
              <a:rPr lang="en-IN" altLang="en-US" sz="1200" b="1" dirty="0">
                <a:latin typeface="Times New Roman" panose="02020603050405020304" pitchFamily="18" charset="0"/>
                <a:cs typeface="Times New Roman" panose="02020603050405020304" pitchFamily="18" charset="0"/>
                <a:sym typeface="+mn-ea"/>
              </a:rPr>
              <a:t> (8208E23ASR003)</a:t>
            </a:r>
            <a:r>
              <a:rPr lang="en-IN" altLang="en-US" sz="1200" b="1" dirty="0">
                <a:latin typeface="Times New Roman" panose="02020603050405020304" pitchFamily="18" charset="0"/>
                <a:cs typeface="Times New Roman" panose="02020603050405020304" pitchFamily="18" charset="0"/>
              </a:rPr>
              <a:t> </a:t>
            </a:r>
          </a:p>
          <a:p>
            <a:pPr lvl="7" algn="ctr">
              <a:lnSpc>
                <a:spcPct val="95000"/>
              </a:lnSpc>
              <a:spcBef>
                <a:spcPts val="500"/>
              </a:spcBef>
              <a:buClr>
                <a:schemeClr val="dk1"/>
              </a:buClr>
              <a:buSzPts val="852"/>
            </a:pPr>
            <a:r>
              <a:rPr lang="en-IN" altLang="en-US" sz="1200" b="1" dirty="0">
                <a:latin typeface="Times New Roman" panose="02020603050405020304" pitchFamily="18" charset="0"/>
                <a:cs typeface="Times New Roman" panose="02020603050405020304" pitchFamily="18" charset="0"/>
                <a:sym typeface="+mn-ea"/>
              </a:rPr>
              <a:t>            </a:t>
            </a:r>
            <a:r>
              <a:rPr lang="en-IN" altLang="en-US" sz="1200" b="1" dirty="0" err="1">
                <a:latin typeface="Times New Roman" panose="02020603050405020304" pitchFamily="18" charset="0"/>
                <a:cs typeface="Times New Roman" panose="02020603050405020304" pitchFamily="18" charset="0"/>
                <a:sym typeface="+mn-ea"/>
              </a:rPr>
              <a:t>Afrid</a:t>
            </a:r>
            <a:r>
              <a:rPr lang="en-IN" altLang="en-US" sz="1200" b="1" dirty="0">
                <a:latin typeface="Times New Roman" panose="02020603050405020304" pitchFamily="18" charset="0"/>
                <a:cs typeface="Times New Roman" panose="02020603050405020304" pitchFamily="18" charset="0"/>
                <a:sym typeface="+mn-ea"/>
              </a:rPr>
              <a:t> </a:t>
            </a:r>
            <a:r>
              <a:rPr lang="en-IN" altLang="en-US" sz="1200" b="1" dirty="0" err="1">
                <a:latin typeface="Times New Roman" panose="02020603050405020304" pitchFamily="18" charset="0"/>
                <a:cs typeface="Times New Roman" panose="02020603050405020304" pitchFamily="18" charset="0"/>
                <a:sym typeface="+mn-ea"/>
              </a:rPr>
              <a:t>Ahamed.B</a:t>
            </a:r>
            <a:r>
              <a:rPr lang="en-IN" altLang="en-US" sz="1200" b="1" dirty="0">
                <a:latin typeface="Times New Roman" panose="02020603050405020304" pitchFamily="18" charset="0"/>
                <a:cs typeface="Times New Roman" panose="02020603050405020304" pitchFamily="18" charset="0"/>
                <a:sym typeface="+mn-ea"/>
              </a:rPr>
              <a:t> (8208E23ASR002) </a:t>
            </a:r>
          </a:p>
          <a:p>
            <a:pPr lvl="7" algn="ctr">
              <a:lnSpc>
                <a:spcPct val="95000"/>
              </a:lnSpc>
              <a:spcBef>
                <a:spcPts val="500"/>
              </a:spcBef>
              <a:buClr>
                <a:schemeClr val="dk1"/>
              </a:buClr>
              <a:buSzPts val="852"/>
            </a:pPr>
            <a:r>
              <a:rPr lang="en-IN" altLang="en-US" sz="1200" b="1" dirty="0">
                <a:latin typeface="Times New Roman" panose="02020603050405020304" pitchFamily="18" charset="0"/>
                <a:cs typeface="Times New Roman" panose="02020603050405020304" pitchFamily="18" charset="0"/>
                <a:sym typeface="+mn-ea"/>
              </a:rPr>
              <a:t>   </a:t>
            </a:r>
            <a:r>
              <a:rPr lang="en-IN" altLang="en-US" sz="1200" b="1" dirty="0" err="1">
                <a:latin typeface="Times New Roman" panose="02020603050405020304" pitchFamily="18" charset="0"/>
                <a:cs typeface="Times New Roman" panose="02020603050405020304" pitchFamily="18" charset="0"/>
                <a:sym typeface="+mn-ea"/>
              </a:rPr>
              <a:t>Abisheak.B</a:t>
            </a:r>
            <a:r>
              <a:rPr lang="en-IN" altLang="en-US" sz="1200" b="1" dirty="0">
                <a:latin typeface="Times New Roman" panose="02020603050405020304" pitchFamily="18" charset="0"/>
                <a:cs typeface="Times New Roman" panose="02020603050405020304" pitchFamily="18" charset="0"/>
                <a:sym typeface="+mn-ea"/>
              </a:rPr>
              <a:t> (8208E23ASR001)</a:t>
            </a:r>
          </a:p>
          <a:p>
            <a:pPr lvl="7" algn="ctr">
              <a:lnSpc>
                <a:spcPct val="95000"/>
              </a:lnSpc>
              <a:spcBef>
                <a:spcPts val="500"/>
              </a:spcBef>
              <a:buClr>
                <a:schemeClr val="dk1"/>
              </a:buClr>
              <a:buSzPts val="852"/>
            </a:pPr>
            <a:r>
              <a:rPr lang="en-IN" altLang="en-US" sz="1200" b="1" dirty="0" err="1">
                <a:latin typeface="Times New Roman" panose="02020603050405020304" pitchFamily="18" charset="0"/>
                <a:cs typeface="Times New Roman" panose="02020603050405020304" pitchFamily="18" charset="0"/>
                <a:sym typeface="+mn-ea"/>
              </a:rPr>
              <a:t>Akash.M</a:t>
            </a:r>
            <a:r>
              <a:rPr lang="en-IN" altLang="en-US" sz="1200" b="1" dirty="0">
                <a:latin typeface="Times New Roman" panose="02020603050405020304" pitchFamily="18" charset="0"/>
                <a:cs typeface="Times New Roman" panose="02020603050405020304" pitchFamily="18" charset="0"/>
                <a:sym typeface="+mn-ea"/>
              </a:rPr>
              <a:t> (8208E23ASR005) </a:t>
            </a:r>
          </a:p>
          <a:p>
            <a:pPr algn="l">
              <a:lnSpc>
                <a:spcPct val="95000"/>
              </a:lnSpc>
              <a:spcBef>
                <a:spcPts val="500"/>
              </a:spcBef>
              <a:buClr>
                <a:schemeClr val="dk1"/>
              </a:buClr>
              <a:buSzPts val="852"/>
            </a:pPr>
            <a:r>
              <a:rPr lang="en-IN" altLang="en-US" b="1" dirty="0">
                <a:latin typeface="Times New Roman" panose="02020603050405020304" pitchFamily="18" charset="0"/>
                <a:cs typeface="Times New Roman" panose="02020603050405020304" pitchFamily="18" charset="0"/>
              </a:rPr>
              <a:t>                                                   </a:t>
            </a:r>
          </a:p>
        </p:txBody>
      </p:sp>
      <p:pic>
        <p:nvPicPr>
          <p:cNvPr id="66561" name="Picture 1" descr="https://encrypted-tbn0.gstatic.com/images?q=tbn:ANd9GcQdAoy8HAYiGwgqBMeq0EtfxKBc5i9totR_W7yOXHEosxAvJ3u6k6r7MVNRo_M3U1QAJMc&amp;usqp=CAU"/>
          <p:cNvPicPr>
            <a:picLocks noChangeAspect="1" noChangeArrowheads="1"/>
          </p:cNvPicPr>
          <p:nvPr/>
        </p:nvPicPr>
        <p:blipFill>
          <a:blip r:embed="rId3"/>
          <a:srcRect/>
          <a:stretch>
            <a:fillRect/>
          </a:stretch>
        </p:blipFill>
        <p:spPr bwMode="auto">
          <a:xfrm>
            <a:off x="0" y="0"/>
            <a:ext cx="924791" cy="1079789"/>
          </a:xfrm>
          <a:prstGeom prst="rect">
            <a:avLst/>
          </a:prstGeom>
          <a:noFill/>
        </p:spPr>
      </p:pic>
      <p:sp>
        <p:nvSpPr>
          <p:cNvPr id="10" name="Google Shape;56;p1"/>
          <p:cNvSpPr/>
          <p:nvPr/>
        </p:nvSpPr>
        <p:spPr>
          <a:xfrm>
            <a:off x="2706418" y="2978991"/>
            <a:ext cx="3996134" cy="307736"/>
          </a:xfrm>
          <a:prstGeom prst="rect">
            <a:avLst/>
          </a:prstGeom>
          <a:noFill/>
          <a:ln>
            <a:noFill/>
          </a:ln>
        </p:spPr>
        <p:txBody>
          <a:bodyPr spcFirstLastPara="1" wrap="square" lIns="91425" tIns="45700" rIns="91425" bIns="45700" anchor="t" anchorCtr="0">
            <a:spAutoFit/>
          </a:bodyPr>
          <a:lstStyle/>
          <a:p>
            <a:pPr lvl="0" algn="ctr"/>
            <a:r>
              <a:rPr lang="en-US" altLang="en-US" b="1" dirty="0">
                <a:solidFill>
                  <a:srgbClr val="C00000"/>
                </a:solidFill>
                <a:latin typeface="Times New Roman" pitchFamily="18" charset="0"/>
                <a:cs typeface="Times New Roman" pitchFamily="18" charset="0"/>
              </a:rPr>
              <a:t>Career Craft Academy Powered by HCL</a:t>
            </a:r>
            <a:r>
              <a:rPr lang="en-US" sz="1400" b="0" i="0" u="none" strike="noStrike" cap="none" dirty="0">
                <a:solidFill>
                  <a:srgbClr val="000000"/>
                </a:solidFill>
                <a:latin typeface="Times New Roman" pitchFamily="18" charset="0"/>
                <a:ea typeface="Book Antiqua" panose="02040602050305030304"/>
                <a:cs typeface="Times New Roman" pitchFamily="18" charset="0"/>
                <a:sym typeface="Book Antiqua" panose="02040602050305030304"/>
              </a:rPr>
              <a:t> </a:t>
            </a:r>
            <a:endParaRPr sz="1400" b="0" i="0" u="none" strike="noStrike" cap="none" dirty="0">
              <a:solidFill>
                <a:srgbClr val="000000"/>
              </a:solidFill>
              <a:latin typeface="Times New Roman" pitchFamily="18" charset="0"/>
              <a:ea typeface="Book Antiqua" panose="02040602050305030304"/>
              <a:cs typeface="Times New Roman" pitchFamily="18" charset="0"/>
              <a:sym typeface="Book Antiqua" panose="02040602050305030304"/>
            </a:endParaRPr>
          </a:p>
        </p:txBody>
      </p:sp>
      <p:sp>
        <p:nvSpPr>
          <p:cNvPr id="12" name="Google Shape;53;p1"/>
          <p:cNvSpPr/>
          <p:nvPr/>
        </p:nvSpPr>
        <p:spPr>
          <a:xfrm>
            <a:off x="2256155" y="1289685"/>
            <a:ext cx="4850765" cy="508635"/>
          </a:xfrm>
          <a:prstGeom prst="rect">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altLang="en-US" sz="1800" b="1" i="0" u="none" strike="noStrike" cap="none" dirty="0">
                <a:solidFill>
                  <a:schemeClr val="tx1"/>
                </a:solidFill>
                <a:latin typeface="Book Antiqua" panose="02040602050305030304"/>
                <a:ea typeface="Book Antiqua" panose="02040602050305030304"/>
                <a:cs typeface="Book Antiqua" panose="02040602050305030304"/>
                <a:sym typeface="Book Antiqua" panose="02040602050305030304"/>
              </a:rPr>
              <a:t>Artificial Intelligence and Data Science</a:t>
            </a:r>
          </a:p>
        </p:txBody>
      </p:sp>
      <p:sp>
        <p:nvSpPr>
          <p:cNvPr id="8" name="Rectangle 7"/>
          <p:cNvSpPr/>
          <p:nvPr/>
        </p:nvSpPr>
        <p:spPr>
          <a:xfrm>
            <a:off x="4035635" y="2417862"/>
            <a:ext cx="184731" cy="307777"/>
          </a:xfrm>
          <a:prstGeom prst="rect">
            <a:avLst/>
          </a:prstGeom>
        </p:spPr>
        <p:txBody>
          <a:bodyPr wrap="none">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pPr algn="ctr"/>
            <a:r>
              <a:rPr lang="en-GB" dirty="0">
                <a:solidFill>
                  <a:schemeClr val="accent1">
                    <a:lumMod val="75000"/>
                  </a:schemeClr>
                </a:solidFill>
                <a:latin typeface="Book Antiqua" panose="02040602050305030304" pitchFamily="18" charset="0"/>
                <a:cs typeface="Times New Roman" panose="02020603050405020304" pitchFamily="18" charset="0"/>
              </a:rPr>
              <a:t>Introduction</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14" name="Text Placeholder 13"/>
          <p:cNvSpPr>
            <a:spLocks noGrp="1"/>
          </p:cNvSpPr>
          <p:nvPr>
            <p:ph type="body" idx="1"/>
          </p:nvPr>
        </p:nvSpPr>
        <p:spPr>
          <a:xfrm>
            <a:off x="311700" y="1152474"/>
            <a:ext cx="8520600" cy="3545031"/>
          </a:xfrm>
        </p:spPr>
        <p:txBody>
          <a:bodyPr>
            <a:normAutofit fontScale="90000"/>
          </a:bodyPr>
          <a:lstStyle/>
          <a:p>
            <a:pPr marL="114300" indent="0" algn="just">
              <a:buNone/>
            </a:pPr>
            <a:r>
              <a:rPr lang="en-US" altLang="en-US" dirty="0" err="1">
                <a:solidFill>
                  <a:schemeClr val="tx1"/>
                </a:solidFill>
                <a:latin typeface="Times New Roman" panose="02020603050405020304" pitchFamily="18" charset="0"/>
                <a:cs typeface="Times New Roman" panose="02020603050405020304" pitchFamily="18" charset="0"/>
              </a:rPr>
              <a:t>OmniOpt</a:t>
            </a:r>
            <a:r>
              <a:rPr lang="en-US" altLang="en-US" dirty="0">
                <a:solidFill>
                  <a:schemeClr val="tx1"/>
                </a:solidFill>
                <a:latin typeface="Times New Roman" panose="02020603050405020304" pitchFamily="18" charset="0"/>
                <a:cs typeface="Times New Roman" panose="02020603050405020304" pitchFamily="18" charset="0"/>
              </a:rPr>
              <a:t> AI is an AI-powered logistics and inventory management platform designed for modern e-commerce supply chains.</a:t>
            </a:r>
          </a:p>
          <a:p>
            <a:pPr marL="114300" indent="0" algn="just">
              <a:buNone/>
            </a:pPr>
            <a:r>
              <a:rPr lang="en-US" altLang="en-US" dirty="0">
                <a:solidFill>
                  <a:schemeClr val="tx1"/>
                </a:solidFill>
                <a:latin typeface="Times New Roman" panose="02020603050405020304" pitchFamily="18" charset="0"/>
                <a:cs typeface="Times New Roman" panose="02020603050405020304" pitchFamily="18" charset="0"/>
              </a:rPr>
              <a:t>The system uses Machine Learning, real-time data processing, and intelligent warehouse rebalancing to predict product demand, optimize inventory levels, and reduce logistics costs.</a:t>
            </a:r>
          </a:p>
          <a:p>
            <a:pPr marL="114300" indent="0" algn="just">
              <a:buNone/>
            </a:pPr>
            <a:r>
              <a:rPr lang="en-US" altLang="en-US" dirty="0">
                <a:solidFill>
                  <a:schemeClr val="tx1"/>
                </a:solidFill>
                <a:latin typeface="Times New Roman" panose="02020603050405020304" pitchFamily="18" charset="0"/>
                <a:cs typeface="Times New Roman" panose="02020603050405020304" pitchFamily="18" charset="0"/>
              </a:rPr>
              <a:t>It integrates:</a:t>
            </a:r>
          </a:p>
          <a:p>
            <a:pPr algn="just">
              <a:buFont typeface="Arial" pitchFamily="34" charset="0"/>
              <a:buChar char="•"/>
            </a:pPr>
            <a:r>
              <a:rPr lang="en-US" altLang="en-US" dirty="0">
                <a:solidFill>
                  <a:schemeClr val="tx1"/>
                </a:solidFill>
                <a:latin typeface="Times New Roman" panose="02020603050405020304" pitchFamily="18" charset="0"/>
                <a:cs typeface="Times New Roman" panose="02020603050405020304" pitchFamily="18" charset="0"/>
              </a:rPr>
              <a:t>Real-time demand forecasting </a:t>
            </a:r>
          </a:p>
          <a:p>
            <a:pPr algn="just">
              <a:buFont typeface="Arial" pitchFamily="34" charset="0"/>
              <a:buChar char="•"/>
            </a:pPr>
            <a:r>
              <a:rPr lang="en-US" altLang="en-US" dirty="0">
                <a:solidFill>
                  <a:schemeClr val="tx1"/>
                </a:solidFill>
                <a:latin typeface="Times New Roman" panose="02020603050405020304" pitchFamily="18" charset="0"/>
                <a:cs typeface="Times New Roman" panose="02020603050405020304" pitchFamily="18" charset="0"/>
              </a:rPr>
              <a:t>Inventory monitoring </a:t>
            </a:r>
          </a:p>
          <a:p>
            <a:pPr algn="just">
              <a:buFont typeface="Arial" pitchFamily="34" charset="0"/>
              <a:buChar char="•"/>
            </a:pPr>
            <a:r>
              <a:rPr lang="en-US" altLang="en-US" dirty="0">
                <a:solidFill>
                  <a:schemeClr val="tx1"/>
                </a:solidFill>
                <a:latin typeface="Times New Roman" panose="02020603050405020304" pitchFamily="18" charset="0"/>
                <a:cs typeface="Times New Roman" panose="02020603050405020304" pitchFamily="18" charset="0"/>
              </a:rPr>
              <a:t>Warehouse rebalancing </a:t>
            </a:r>
          </a:p>
          <a:p>
            <a:pPr algn="just">
              <a:buFont typeface="Arial" pitchFamily="34" charset="0"/>
              <a:buChar char="•"/>
            </a:pPr>
            <a:r>
              <a:rPr lang="en-US" altLang="en-US" dirty="0">
                <a:solidFill>
                  <a:schemeClr val="tx1"/>
                </a:solidFill>
                <a:latin typeface="Times New Roman" panose="02020603050405020304" pitchFamily="18" charset="0"/>
                <a:cs typeface="Times New Roman" panose="02020603050405020304" pitchFamily="18" charset="0"/>
              </a:rPr>
              <a:t>Route optimization </a:t>
            </a:r>
          </a:p>
          <a:p>
            <a:pPr algn="just">
              <a:buFont typeface="Arial" pitchFamily="34" charset="0"/>
              <a:buChar char="•"/>
            </a:pPr>
            <a:r>
              <a:rPr lang="en-US" altLang="en-US" dirty="0">
                <a:solidFill>
                  <a:schemeClr val="tx1"/>
                </a:solidFill>
                <a:latin typeface="Times New Roman" panose="02020603050405020304" pitchFamily="18" charset="0"/>
                <a:cs typeface="Times New Roman" panose="02020603050405020304" pitchFamily="18" charset="0"/>
              </a:rPr>
              <a:t>Live dashboard updates </a:t>
            </a:r>
          </a:p>
          <a:p>
            <a:pPr marL="114300" indent="0" algn="just">
              <a:buNone/>
            </a:pPr>
            <a:r>
              <a:rPr lang="en-US" altLang="en-US" dirty="0">
                <a:solidFill>
                  <a:schemeClr val="tx1"/>
                </a:solidFill>
                <a:latin typeface="Times New Roman" panose="02020603050405020304" pitchFamily="18" charset="0"/>
                <a:cs typeface="Times New Roman" panose="02020603050405020304" pitchFamily="18" charset="0"/>
              </a:rPr>
              <a:t>Goal: Improve supply chain efficiency while reducing </a:t>
            </a:r>
            <a:r>
              <a:rPr lang="en-US" altLang="en-US" dirty="0" err="1">
                <a:solidFill>
                  <a:schemeClr val="tx1"/>
                </a:solidFill>
                <a:latin typeface="Times New Roman" panose="02020603050405020304" pitchFamily="18" charset="0"/>
                <a:cs typeface="Times New Roman" panose="02020603050405020304" pitchFamily="18" charset="0"/>
              </a:rPr>
              <a:t>stockouts</a:t>
            </a:r>
            <a:r>
              <a:rPr lang="en-US" altLang="en-US" dirty="0">
                <a:solidFill>
                  <a:schemeClr val="tx1"/>
                </a:solidFill>
                <a:latin typeface="Times New Roman" panose="02020603050405020304" pitchFamily="18" charset="0"/>
                <a:cs typeface="Times New Roman" panose="02020603050405020304" pitchFamily="18" charset="0"/>
              </a:rPr>
              <a:t> and overstocking.</a:t>
            </a:r>
          </a:p>
          <a:p>
            <a:pPr marL="114300" indent="0" algn="just">
              <a:buNone/>
            </a:pPr>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a:xfrm>
            <a:off x="8595300" y="4759044"/>
            <a:ext cx="548700" cy="393600"/>
          </a:xfrm>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a:t>
            </a:fld>
            <a:r>
              <a:rPr lang="en-GB" dirty="0"/>
              <a:t>/13</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432816"/>
            <a:ext cx="8520600" cy="609600"/>
          </a:xfrm>
        </p:spPr>
        <p:txBody>
          <a:bodyPr>
            <a:normAutofit fontScale="90000"/>
          </a:bodyPr>
          <a:lstStyle/>
          <a:p>
            <a:pPr algn="ctr"/>
            <a:r>
              <a:rPr lang="en-IN" dirty="0">
                <a:solidFill>
                  <a:schemeClr val="accent1">
                    <a:lumMod val="75000"/>
                  </a:schemeClr>
                </a:solidFill>
                <a:latin typeface="Book Antiqua" panose="02040602050305030304" pitchFamily="18" charset="0"/>
                <a:cs typeface="Times New Roman" panose="02020603050405020304" pitchFamily="18" charset="0"/>
              </a:rPr>
              <a:t>Problem Statement</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57912" y="1194816"/>
            <a:ext cx="8520600" cy="3660929"/>
          </a:xfrm>
        </p:spPr>
        <p:txBody>
          <a:bodyPr>
            <a:normAutofit fontScale="97500"/>
          </a:bodyPr>
          <a:lstStyle/>
          <a:p>
            <a:pPr marL="114300" indent="0" algn="just">
              <a:buNone/>
            </a:pPr>
            <a:r>
              <a:rPr lang="en-US" sz="1600" dirty="0">
                <a:solidFill>
                  <a:schemeClr val="tx1"/>
                </a:solidFill>
                <a:latin typeface="Times New Roman" pitchFamily="18" charset="0"/>
                <a:cs typeface="Times New Roman" pitchFamily="18" charset="0"/>
              </a:rPr>
              <a:t>Modern e-commerce warehouses face several operational challenges that reduce the efficiency of supply chain management. Traditional inventory systems often produce inaccurate demand forecasts, resulting in frequent </a:t>
            </a:r>
            <a:r>
              <a:rPr lang="en-US" sz="1600" dirty="0" err="1">
                <a:solidFill>
                  <a:schemeClr val="tx1"/>
                </a:solidFill>
                <a:latin typeface="Times New Roman" pitchFamily="18" charset="0"/>
                <a:cs typeface="Times New Roman" pitchFamily="18" charset="0"/>
              </a:rPr>
              <a:t>stockouts</a:t>
            </a:r>
            <a:r>
              <a:rPr lang="en-US" sz="1600" dirty="0">
                <a:solidFill>
                  <a:schemeClr val="tx1"/>
                </a:solidFill>
                <a:latin typeface="Times New Roman" pitchFamily="18" charset="0"/>
                <a:cs typeface="Times New Roman" pitchFamily="18" charset="0"/>
              </a:rPr>
              <a:t> or excess inventory. Inventory updates are delayed, making it difficult to respond quickly to changing customer demand. In addition, high logistics and transportation costs, manual warehouse rebalancing, and the lack of real-time monitoring further reduce operational efficiency. Most existing systems also fail to consider external factors such as weather conditions and festivals, which significantly influence customer demand. As a result, these limitations increase operational costs, delay order fulfillment, and reduce overall customer satisfaction.</a:t>
            </a:r>
            <a:endParaRPr lang="en-US" altLang="en-US" sz="1600"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162E9DC9-BA66-50D2-70AF-8BC7EF37B5B0}"/>
              </a:ext>
            </a:extLst>
          </p:cNvPr>
          <p:cNvSpPr>
            <a:spLocks noGrp="1"/>
          </p:cNvSpPr>
          <p:nvPr>
            <p:ph type="sldNum" idx="12"/>
          </p:nvPr>
        </p:nvSpPr>
        <p:spPr>
          <a:xfrm>
            <a:off x="8595300" y="4759044"/>
            <a:ext cx="548700" cy="393600"/>
          </a:xfrm>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a:t>
            </a:fld>
            <a:r>
              <a:rPr lang="en-GB" dirty="0"/>
              <a:t>/13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flipH="1">
            <a:off x="1676398" y="298704"/>
            <a:ext cx="5565647" cy="489786"/>
          </a:xfrm>
        </p:spPr>
        <p:txBody>
          <a:bodyPr>
            <a:normAutofit fontScale="90000"/>
          </a:bodyPr>
          <a:lstStyle/>
          <a:p>
            <a:pPr algn="ctr"/>
            <a:r>
              <a:rPr lang="en-IN" sz="2300" dirty="0">
                <a:solidFill>
                  <a:schemeClr val="accent1">
                    <a:lumMod val="75000"/>
                  </a:schemeClr>
                </a:solidFill>
                <a:latin typeface="Book Antiqua" panose="02040602050305030304" pitchFamily="18" charset="0"/>
                <a:cs typeface="Times New Roman" panose="02020603050405020304" pitchFamily="18" charset="0"/>
              </a:rPr>
              <a:t>Existing System &amp; Key Limitations</a:t>
            </a:r>
          </a:p>
        </p:txBody>
      </p:sp>
      <p:graphicFrame>
        <p:nvGraphicFramePr>
          <p:cNvPr id="7" name="Table 6"/>
          <p:cNvGraphicFramePr>
            <a:graphicFrameLocks noGrp="1"/>
          </p:cNvGraphicFramePr>
          <p:nvPr>
            <p:extLst>
              <p:ext uri="{D42A27DB-BD31-4B8C-83A1-F6EECF244321}">
                <p14:modId xmlns:p14="http://schemas.microsoft.com/office/powerpoint/2010/main" val="727322238"/>
              </p:ext>
            </p:extLst>
          </p:nvPr>
        </p:nvGraphicFramePr>
        <p:xfrm>
          <a:off x="252337" y="929844"/>
          <a:ext cx="8738338" cy="3667874"/>
        </p:xfrm>
        <a:graphic>
          <a:graphicData uri="http://schemas.openxmlformats.org/drawingml/2006/table">
            <a:tbl>
              <a:tblPr firstRow="1" bandRow="1">
                <a:tableStyleId>{073A0DAA-6AF3-43AB-8588-CEC1D06C72B9}</a:tableStyleId>
              </a:tblPr>
              <a:tblGrid>
                <a:gridCol w="4362124">
                  <a:extLst>
                    <a:ext uri="{9D8B030D-6E8A-4147-A177-3AD203B41FA5}">
                      <a16:colId xmlns:a16="http://schemas.microsoft.com/office/drawing/2014/main" val="20000"/>
                    </a:ext>
                  </a:extLst>
                </a:gridCol>
                <a:gridCol w="4376214">
                  <a:extLst>
                    <a:ext uri="{9D8B030D-6E8A-4147-A177-3AD203B41FA5}">
                      <a16:colId xmlns:a16="http://schemas.microsoft.com/office/drawing/2014/main" val="20001"/>
                    </a:ext>
                  </a:extLst>
                </a:gridCol>
              </a:tblGrid>
              <a:tr h="517076">
                <a:tc>
                  <a:txBody>
                    <a:bodyPr/>
                    <a:lstStyle/>
                    <a:p>
                      <a:r>
                        <a:rPr lang="en-US" sz="1200" b="1" dirty="0">
                          <a:latin typeface="Times New Roman" pitchFamily="18" charset="0"/>
                          <a:cs typeface="Times New Roman" pitchFamily="18" charset="0"/>
                        </a:rPr>
                        <a:t>Existing System</a:t>
                      </a:r>
                      <a:endParaRPr lang="en-US" sz="1200" dirty="0">
                        <a:latin typeface="Times New Roman" pitchFamily="18" charset="0"/>
                        <a:cs typeface="Times New Roman" pitchFamily="18" charset="0"/>
                      </a:endParaRPr>
                    </a:p>
                  </a:txBody>
                  <a:tcPr anchor="ctr"/>
                </a:tc>
                <a:tc>
                  <a:txBody>
                    <a:bodyPr/>
                    <a:lstStyle/>
                    <a:p>
                      <a:r>
                        <a:rPr lang="en-US" sz="1200" b="1">
                          <a:latin typeface="Times New Roman" pitchFamily="18" charset="0"/>
                          <a:cs typeface="Times New Roman" pitchFamily="18" charset="0"/>
                        </a:rPr>
                        <a:t>Key Limitations</a:t>
                      </a:r>
                      <a:endParaRPr lang="en-US" sz="120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525133">
                <a:tc>
                  <a:txBody>
                    <a:bodyPr/>
                    <a:lstStyle/>
                    <a:p>
                      <a:r>
                        <a:rPr lang="en-US" sz="1200" b="1" dirty="0">
                          <a:latin typeface="Times New Roman" pitchFamily="18" charset="0"/>
                          <a:cs typeface="Times New Roman" pitchFamily="18" charset="0"/>
                        </a:rPr>
                        <a:t>Moving Averages (MA):</a:t>
                      </a:r>
                      <a:r>
                        <a:rPr lang="en-US" sz="1200" dirty="0">
                          <a:latin typeface="Times New Roman" pitchFamily="18" charset="0"/>
                          <a:cs typeface="Times New Roman" pitchFamily="18" charset="0"/>
                        </a:rPr>
                        <a:t> Uses rolling averages (7–30 days) for demand forecasting.</a:t>
                      </a:r>
                    </a:p>
                  </a:txBody>
                  <a:tcPr anchor="ctr"/>
                </a:tc>
                <a:tc>
                  <a:txBody>
                    <a:bodyPr/>
                    <a:lstStyle/>
                    <a:p>
                      <a:r>
                        <a:rPr lang="en-US" sz="1200">
                          <a:latin typeface="Times New Roman" pitchFamily="18" charset="0"/>
                          <a:cs typeface="Times New Roman" pitchFamily="18" charset="0"/>
                        </a:rPr>
                        <a:t>Cannot capture sudden demand spikes due to lagging predictions.</a:t>
                      </a:r>
                    </a:p>
                  </a:txBody>
                  <a:tcPr anchor="ctr"/>
                </a:tc>
                <a:extLst>
                  <a:ext uri="{0D108BD9-81ED-4DB2-BD59-A6C34878D82A}">
                    <a16:rowId xmlns:a16="http://schemas.microsoft.com/office/drawing/2014/main" val="10001"/>
                  </a:ext>
                </a:extLst>
              </a:tr>
              <a:tr h="525133">
                <a:tc>
                  <a:txBody>
                    <a:bodyPr/>
                    <a:lstStyle/>
                    <a:p>
                      <a:r>
                        <a:rPr lang="en-US" sz="1200" b="1">
                          <a:latin typeface="Times New Roman" pitchFamily="18" charset="0"/>
                          <a:cs typeface="Times New Roman" pitchFamily="18" charset="0"/>
                        </a:rPr>
                        <a:t>ARIMA Models:</a:t>
                      </a:r>
                      <a:r>
                        <a:rPr lang="en-US" sz="1200">
                          <a:latin typeface="Times New Roman" pitchFamily="18" charset="0"/>
                          <a:cs typeface="Times New Roman" pitchFamily="18" charset="0"/>
                        </a:rPr>
                        <a:t> Forecasts demand using historical trends and statistical patterns.</a:t>
                      </a:r>
                    </a:p>
                  </a:txBody>
                  <a:tcPr anchor="ctr"/>
                </a:tc>
                <a:tc>
                  <a:txBody>
                    <a:bodyPr/>
                    <a:lstStyle/>
                    <a:p>
                      <a:r>
                        <a:rPr lang="en-US" sz="1200">
                          <a:latin typeface="Times New Roman" pitchFamily="18" charset="0"/>
                          <a:cs typeface="Times New Roman" pitchFamily="18" charset="0"/>
                        </a:rPr>
                        <a:t>Cannot effectively model complex multi-variable relationships (price, region, category).</a:t>
                      </a:r>
                    </a:p>
                  </a:txBody>
                  <a:tcPr anchor="ctr"/>
                </a:tc>
                <a:extLst>
                  <a:ext uri="{0D108BD9-81ED-4DB2-BD59-A6C34878D82A}">
                    <a16:rowId xmlns:a16="http://schemas.microsoft.com/office/drawing/2014/main" val="10002"/>
                  </a:ext>
                </a:extLst>
              </a:tr>
              <a:tr h="525133">
                <a:tc>
                  <a:txBody>
                    <a:bodyPr/>
                    <a:lstStyle/>
                    <a:p>
                      <a:r>
                        <a:rPr lang="en-US" sz="1200" b="1" dirty="0">
                          <a:latin typeface="Times New Roman" pitchFamily="18" charset="0"/>
                          <a:cs typeface="Times New Roman" pitchFamily="18" charset="0"/>
                        </a:rPr>
                        <a:t>Holt-Winters Smoothing:</a:t>
                      </a:r>
                      <a:r>
                        <a:rPr lang="en-US" sz="1200" dirty="0">
                          <a:latin typeface="Times New Roman" pitchFamily="18" charset="0"/>
                          <a:cs typeface="Times New Roman" pitchFamily="18" charset="0"/>
                        </a:rPr>
                        <a:t> Handles seasonal demand variations.</a:t>
                      </a:r>
                    </a:p>
                  </a:txBody>
                  <a:tcPr anchor="ctr"/>
                </a:tc>
                <a:tc>
                  <a:txBody>
                    <a:bodyPr/>
                    <a:lstStyle/>
                    <a:p>
                      <a:r>
                        <a:rPr lang="en-US" sz="1200">
                          <a:latin typeface="Times New Roman" pitchFamily="18" charset="0"/>
                          <a:cs typeface="Times New Roman" pitchFamily="18" charset="0"/>
                        </a:rPr>
                        <a:t>Cannot incorporate external factors such as weather, festivals, or price changes.</a:t>
                      </a:r>
                    </a:p>
                  </a:txBody>
                  <a:tcPr anchor="ctr"/>
                </a:tc>
                <a:extLst>
                  <a:ext uri="{0D108BD9-81ED-4DB2-BD59-A6C34878D82A}">
                    <a16:rowId xmlns:a16="http://schemas.microsoft.com/office/drawing/2014/main" val="10003"/>
                  </a:ext>
                </a:extLst>
              </a:tr>
              <a:tr h="525133">
                <a:tc>
                  <a:txBody>
                    <a:bodyPr/>
                    <a:lstStyle/>
                    <a:p>
                      <a:r>
                        <a:rPr lang="en-US" sz="1200" b="1">
                          <a:latin typeface="Times New Roman" pitchFamily="18" charset="0"/>
                          <a:cs typeface="Times New Roman" pitchFamily="18" charset="0"/>
                        </a:rPr>
                        <a:t>EOQ / Reorder Point (ROP):</a:t>
                      </a:r>
                      <a:r>
                        <a:rPr lang="en-US" sz="1200">
                          <a:latin typeface="Times New Roman" pitchFamily="18" charset="0"/>
                          <a:cs typeface="Times New Roman" pitchFamily="18" charset="0"/>
                        </a:rPr>
                        <a:t> Determines inventory replenishment based on fixed demand assumptions.</a:t>
                      </a:r>
                    </a:p>
                  </a:txBody>
                  <a:tcPr anchor="ctr"/>
                </a:tc>
                <a:tc>
                  <a:txBody>
                    <a:bodyPr/>
                    <a:lstStyle/>
                    <a:p>
                      <a:r>
                        <a:rPr lang="en-US" sz="1200">
                          <a:latin typeface="Times New Roman" pitchFamily="18" charset="0"/>
                          <a:cs typeface="Times New Roman" pitchFamily="18" charset="0"/>
                        </a:rPr>
                        <a:t>Performs poorly with dynamic and non-linear e-commerce demand patterns.</a:t>
                      </a:r>
                    </a:p>
                  </a:txBody>
                  <a:tcPr anchor="ctr"/>
                </a:tc>
                <a:extLst>
                  <a:ext uri="{0D108BD9-81ED-4DB2-BD59-A6C34878D82A}">
                    <a16:rowId xmlns:a16="http://schemas.microsoft.com/office/drawing/2014/main" val="10004"/>
                  </a:ext>
                </a:extLst>
              </a:tr>
              <a:tr h="525133">
                <a:tc>
                  <a:txBody>
                    <a:bodyPr/>
                    <a:lstStyle/>
                    <a:p>
                      <a:r>
                        <a:rPr lang="en-US" sz="1200" b="1">
                          <a:latin typeface="Times New Roman" pitchFamily="18" charset="0"/>
                          <a:cs typeface="Times New Roman" pitchFamily="18" charset="0"/>
                        </a:rPr>
                        <a:t>Manual Dispatch &amp; Inventory Management:</a:t>
                      </a:r>
                      <a:r>
                        <a:rPr lang="en-US" sz="1200">
                          <a:latin typeface="Times New Roman" pitchFamily="18" charset="0"/>
                          <a:cs typeface="Times New Roman" pitchFamily="18" charset="0"/>
                        </a:rPr>
                        <a:t> Uses spreadsheets and manual warehouse coordination.</a:t>
                      </a:r>
                    </a:p>
                  </a:txBody>
                  <a:tcPr anchor="ctr"/>
                </a:tc>
                <a:tc>
                  <a:txBody>
                    <a:bodyPr/>
                    <a:lstStyle/>
                    <a:p>
                      <a:r>
                        <a:rPr lang="en-US" sz="1200">
                          <a:latin typeface="Times New Roman" pitchFamily="18" charset="0"/>
                          <a:cs typeface="Times New Roman" pitchFamily="18" charset="0"/>
                        </a:rPr>
                        <a:t>Leads to slow decision-making, inefficient stock rebalancing, and human errors.</a:t>
                      </a:r>
                    </a:p>
                  </a:txBody>
                  <a:tcPr anchor="ctr"/>
                </a:tc>
                <a:extLst>
                  <a:ext uri="{0D108BD9-81ED-4DB2-BD59-A6C34878D82A}">
                    <a16:rowId xmlns:a16="http://schemas.microsoft.com/office/drawing/2014/main" val="10005"/>
                  </a:ext>
                </a:extLst>
              </a:tr>
              <a:tr h="525133">
                <a:tc>
                  <a:txBody>
                    <a:bodyPr/>
                    <a:lstStyle/>
                    <a:p>
                      <a:r>
                        <a:rPr lang="en-US" sz="1200" b="1" dirty="0">
                          <a:latin typeface="Times New Roman" pitchFamily="18" charset="0"/>
                          <a:cs typeface="Times New Roman" pitchFamily="18" charset="0"/>
                        </a:rPr>
                        <a:t>Cloud-Dependent Monitoring:</a:t>
                      </a:r>
                      <a:r>
                        <a:rPr lang="en-US" sz="1200" dirty="0">
                          <a:latin typeface="Times New Roman" pitchFamily="18" charset="0"/>
                          <a:cs typeface="Times New Roman" pitchFamily="18" charset="0"/>
                        </a:rPr>
                        <a:t> Relies entirely on cloud connectivity for inventory visibility.</a:t>
                      </a:r>
                    </a:p>
                  </a:txBody>
                  <a:tcPr anchor="ctr"/>
                </a:tc>
                <a:tc>
                  <a:txBody>
                    <a:bodyPr/>
                    <a:lstStyle/>
                    <a:p>
                      <a:r>
                        <a:rPr lang="en-US" sz="1200" dirty="0">
                          <a:latin typeface="Times New Roman" pitchFamily="18" charset="0"/>
                          <a:cs typeface="Times New Roman" pitchFamily="18" charset="0"/>
                        </a:rPr>
                        <a:t>Network failures can interrupt real-time monitoring and reduce system reliability.</a:t>
                      </a:r>
                    </a:p>
                  </a:txBody>
                  <a:tcPr anchor="ctr"/>
                </a:tc>
                <a:extLst>
                  <a:ext uri="{0D108BD9-81ED-4DB2-BD59-A6C34878D82A}">
                    <a16:rowId xmlns:a16="http://schemas.microsoft.com/office/drawing/2014/main" val="10006"/>
                  </a:ext>
                </a:extLst>
              </a:tr>
            </a:tbl>
          </a:graphicData>
        </a:graphic>
      </p:graphicFrame>
      <p:sp>
        <p:nvSpPr>
          <p:cNvPr id="3" name="Slide Number Placeholder 3">
            <a:extLst>
              <a:ext uri="{FF2B5EF4-FFF2-40B4-BE49-F238E27FC236}">
                <a16:creationId xmlns:a16="http://schemas.microsoft.com/office/drawing/2014/main" id="{9FDAF41B-84FD-B3A6-A678-D59ED8D20CCC}"/>
              </a:ext>
            </a:extLst>
          </p:cNvPr>
          <p:cNvSpPr>
            <a:spLocks noGrp="1"/>
          </p:cNvSpPr>
          <p:nvPr>
            <p:ph type="sldNum" idx="12"/>
          </p:nvPr>
        </p:nvSpPr>
        <p:spPr>
          <a:xfrm>
            <a:off x="8595300" y="4749900"/>
            <a:ext cx="548700" cy="393600"/>
          </a:xfrm>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a:t>
            </a:fld>
            <a:r>
              <a:rPr lang="en-GB" dirty="0"/>
              <a:t>/13</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59664"/>
            <a:ext cx="8520600" cy="615696"/>
          </a:xfrm>
        </p:spPr>
        <p:txBody>
          <a:bodyPr>
            <a:normAutofit fontScale="90000"/>
          </a:bodyPr>
          <a:lstStyle/>
          <a:p>
            <a:pPr algn="ctr"/>
            <a:r>
              <a:rPr lang="en-IN" dirty="0">
                <a:solidFill>
                  <a:schemeClr val="accent1">
                    <a:lumMod val="75000"/>
                  </a:schemeClr>
                </a:solidFill>
                <a:latin typeface="Book Antiqua" panose="02040602050305030304" pitchFamily="18" charset="0"/>
                <a:cs typeface="Times New Roman" panose="02020603050405020304" pitchFamily="18" charset="0"/>
              </a:rPr>
              <a:t>Proposed Solution</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57912" y="1091184"/>
            <a:ext cx="8520600" cy="3764561"/>
          </a:xfrm>
        </p:spPr>
        <p:txBody>
          <a:bodyPr>
            <a:normAutofit fontScale="97500"/>
          </a:bodyPr>
          <a:lstStyle/>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AI-Based Demand Forecasting: Uses Machine Learning to accurately predict future product demand. </a:t>
            </a:r>
          </a:p>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Smart Inventory Management: Optimizes stock levels and automates warehouse rebalancing to reduce </a:t>
            </a:r>
            <a:r>
              <a:rPr lang="en-US" altLang="en-US" dirty="0" err="1">
                <a:solidFill>
                  <a:schemeClr val="tx1"/>
                </a:solidFill>
                <a:latin typeface="Times New Roman" pitchFamily="18" charset="0"/>
                <a:cs typeface="Times New Roman" pitchFamily="18" charset="0"/>
              </a:rPr>
              <a:t>stockouts</a:t>
            </a:r>
            <a:r>
              <a:rPr lang="en-US" altLang="en-US" dirty="0">
                <a:solidFill>
                  <a:schemeClr val="tx1"/>
                </a:solidFill>
                <a:latin typeface="Times New Roman" pitchFamily="18" charset="0"/>
                <a:cs typeface="Times New Roman" pitchFamily="18" charset="0"/>
              </a:rPr>
              <a:t> and overstocking. </a:t>
            </a:r>
          </a:p>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Real-Time Monitoring: Provides live inventory updates and interactive dashboards using </a:t>
            </a:r>
            <a:r>
              <a:rPr lang="en-US" altLang="en-US" dirty="0" err="1">
                <a:solidFill>
                  <a:schemeClr val="tx1"/>
                </a:solidFill>
                <a:latin typeface="Times New Roman" pitchFamily="18" charset="0"/>
                <a:cs typeface="Times New Roman" pitchFamily="18" charset="0"/>
              </a:rPr>
              <a:t>WebSockets</a:t>
            </a:r>
            <a:r>
              <a:rPr lang="en-US" altLang="en-US" dirty="0">
                <a:solidFill>
                  <a:schemeClr val="tx1"/>
                </a:solidFill>
                <a:latin typeface="Times New Roman" pitchFamily="18" charset="0"/>
                <a:cs typeface="Times New Roman" pitchFamily="18" charset="0"/>
              </a:rPr>
              <a:t>. </a:t>
            </a:r>
          </a:p>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Optimized Logistics: Improves delivery planning by considering factors such as weather, festivals, and route optimization. </a:t>
            </a:r>
          </a:p>
        </p:txBody>
      </p:sp>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5</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29184"/>
            <a:ext cx="8520600" cy="664464"/>
          </a:xfrm>
        </p:spPr>
        <p:txBody>
          <a:bodyPr>
            <a:normAutofit fontScale="90000"/>
          </a:bodyPr>
          <a:lstStyle/>
          <a:p>
            <a:pPr algn="ctr"/>
            <a:r>
              <a:rPr lang="en-IN" dirty="0">
                <a:solidFill>
                  <a:schemeClr val="accent1">
                    <a:lumMod val="75000"/>
                  </a:schemeClr>
                </a:solidFill>
                <a:latin typeface="Book Antiqua" panose="02040602050305030304" pitchFamily="18" charset="0"/>
                <a:cs typeface="Times New Roman" panose="02020603050405020304" pitchFamily="18" charset="0"/>
              </a:rPr>
              <a:t>Research Gap</a:t>
            </a: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3" name="Text Placeholder 2"/>
          <p:cNvSpPr>
            <a:spLocks noGrp="1"/>
          </p:cNvSpPr>
          <p:nvPr>
            <p:ph type="body" idx="1"/>
          </p:nvPr>
        </p:nvSpPr>
        <p:spPr>
          <a:xfrm>
            <a:off x="257912" y="963168"/>
            <a:ext cx="8520600" cy="3572257"/>
          </a:xfrm>
        </p:spPr>
        <p:txBody>
          <a:bodyPr>
            <a:normAutofit fontScale="97500"/>
          </a:bodyPr>
          <a:lstStyle/>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Traditional forecasting models provide limited prediction accuracy.</a:t>
            </a:r>
          </a:p>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Existing systems lack real-time inventory monitoring.</a:t>
            </a:r>
          </a:p>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Warehouse rebalancing is mostly manual and inefficient.</a:t>
            </a:r>
          </a:p>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External factors such as weather and festivals are ignored.</a:t>
            </a:r>
          </a:p>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Forecasting and logistics operate independently.</a:t>
            </a:r>
          </a:p>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Decision-making is slow due to manual processes.</a:t>
            </a:r>
          </a:p>
          <a:p>
            <a:pPr algn="just">
              <a:lnSpc>
                <a:spcPct val="150000"/>
              </a:lnSpc>
              <a:buFont typeface="Arial" pitchFamily="34" charset="0"/>
              <a:buChar char="•"/>
            </a:pPr>
            <a:r>
              <a:rPr lang="en-US" altLang="en-US" dirty="0">
                <a:solidFill>
                  <a:schemeClr val="tx1"/>
                </a:solidFill>
                <a:latin typeface="Times New Roman" pitchFamily="18" charset="0"/>
                <a:cs typeface="Times New Roman" pitchFamily="18" charset="0"/>
              </a:rPr>
              <a:t>Existing solutions are less scalable and adaptable for modern e-commerce.</a:t>
            </a:r>
          </a:p>
        </p:txBody>
      </p:sp>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6</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646563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flipH="1">
            <a:off x="1627632" y="298704"/>
            <a:ext cx="5382768" cy="566928"/>
          </a:xfrm>
        </p:spPr>
        <p:txBody>
          <a:bodyPr>
            <a:normAutofit/>
          </a:bodyPr>
          <a:lstStyle/>
          <a:p>
            <a:pPr algn="ctr"/>
            <a:r>
              <a:rPr lang="en-IN" sz="2300" dirty="0">
                <a:solidFill>
                  <a:schemeClr val="accent1">
                    <a:lumMod val="75000"/>
                  </a:schemeClr>
                </a:solidFill>
                <a:latin typeface="Book Antiqua" panose="02040602050305030304" pitchFamily="18" charset="0"/>
                <a:cs typeface="Times New Roman" panose="02020603050405020304" pitchFamily="18" charset="0"/>
              </a:rPr>
              <a:t>Project Objectives with Outcomes</a:t>
            </a:r>
          </a:p>
        </p:txBody>
      </p:sp>
      <p:sp>
        <p:nvSpPr>
          <p:cNvPr id="14" name="Text Placeholder 13"/>
          <p:cNvSpPr>
            <a:spLocks noGrp="1"/>
          </p:cNvSpPr>
          <p:nvPr>
            <p:ph type="body" idx="1"/>
          </p:nvPr>
        </p:nvSpPr>
        <p:spPr>
          <a:xfrm>
            <a:off x="362500" y="1152144"/>
            <a:ext cx="8520600" cy="3127806"/>
          </a:xfrm>
        </p:spPr>
        <p:txBody>
          <a:bodyPr>
            <a:noAutofit/>
          </a:bodyPr>
          <a:lstStyle/>
          <a:p>
            <a:pPr>
              <a:buNone/>
            </a:pPr>
            <a:endParaRPr lang="en-US" altLang="en-US" sz="1700" dirty="0">
              <a:solidFill>
                <a:schemeClr val="tx1"/>
              </a:solidFill>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22410558"/>
              </p:ext>
            </p:extLst>
          </p:nvPr>
        </p:nvGraphicFramePr>
        <p:xfrm>
          <a:off x="201169" y="975361"/>
          <a:ext cx="8762722" cy="3672839"/>
        </p:xfrm>
        <a:graphic>
          <a:graphicData uri="http://schemas.openxmlformats.org/drawingml/2006/table">
            <a:tbl>
              <a:tblPr firstRow="1" bandRow="1">
                <a:tableStyleId>{073A0DAA-6AF3-43AB-8588-CEC1D06C72B9}</a:tableStyleId>
              </a:tblPr>
              <a:tblGrid>
                <a:gridCol w="4374297">
                  <a:extLst>
                    <a:ext uri="{9D8B030D-6E8A-4147-A177-3AD203B41FA5}">
                      <a16:colId xmlns:a16="http://schemas.microsoft.com/office/drawing/2014/main" val="20000"/>
                    </a:ext>
                  </a:extLst>
                </a:gridCol>
                <a:gridCol w="4388425">
                  <a:extLst>
                    <a:ext uri="{9D8B030D-6E8A-4147-A177-3AD203B41FA5}">
                      <a16:colId xmlns:a16="http://schemas.microsoft.com/office/drawing/2014/main" val="20001"/>
                    </a:ext>
                  </a:extLst>
                </a:gridCol>
              </a:tblGrid>
              <a:tr h="439144">
                <a:tc>
                  <a:txBody>
                    <a:bodyPr/>
                    <a:lstStyle/>
                    <a:p>
                      <a:r>
                        <a:rPr lang="en-US" b="1" dirty="0"/>
                        <a:t>Objectives</a:t>
                      </a:r>
                      <a:endParaRPr lang="en-US" dirty="0"/>
                    </a:p>
                  </a:txBody>
                  <a:tcPr anchor="ctr"/>
                </a:tc>
                <a:tc>
                  <a:txBody>
                    <a:bodyPr/>
                    <a:lstStyle/>
                    <a:p>
                      <a:r>
                        <a:rPr lang="en-US" b="1"/>
                        <a:t>Outcomes</a:t>
                      </a:r>
                      <a:endParaRPr lang="en-US"/>
                    </a:p>
                  </a:txBody>
                  <a:tcPr anchor="ctr"/>
                </a:tc>
                <a:extLst>
                  <a:ext uri="{0D108BD9-81ED-4DB2-BD59-A6C34878D82A}">
                    <a16:rowId xmlns:a16="http://schemas.microsoft.com/office/drawing/2014/main" val="10000"/>
                  </a:ext>
                </a:extLst>
              </a:tr>
              <a:tr h="439144">
                <a:tc>
                  <a:txBody>
                    <a:bodyPr/>
                    <a:lstStyle/>
                    <a:p>
                      <a:r>
                        <a:rPr lang="en-US"/>
                        <a:t>Forecast product demand</a:t>
                      </a:r>
                    </a:p>
                  </a:txBody>
                  <a:tcPr anchor="ctr"/>
                </a:tc>
                <a:tc>
                  <a:txBody>
                    <a:bodyPr/>
                    <a:lstStyle/>
                    <a:p>
                      <a:r>
                        <a:rPr lang="en-US"/>
                        <a:t>Accurate sales prediction</a:t>
                      </a:r>
                    </a:p>
                  </a:txBody>
                  <a:tcPr anchor="ctr"/>
                </a:tc>
                <a:extLst>
                  <a:ext uri="{0D108BD9-81ED-4DB2-BD59-A6C34878D82A}">
                    <a16:rowId xmlns:a16="http://schemas.microsoft.com/office/drawing/2014/main" val="10001"/>
                  </a:ext>
                </a:extLst>
              </a:tr>
              <a:tr h="439144">
                <a:tc>
                  <a:txBody>
                    <a:bodyPr/>
                    <a:lstStyle/>
                    <a:p>
                      <a:r>
                        <a:rPr lang="en-US"/>
                        <a:t>Reduce stockouts</a:t>
                      </a:r>
                    </a:p>
                  </a:txBody>
                  <a:tcPr anchor="ctr"/>
                </a:tc>
                <a:tc>
                  <a:txBody>
                    <a:bodyPr/>
                    <a:lstStyle/>
                    <a:p>
                      <a:r>
                        <a:rPr lang="en-US" dirty="0"/>
                        <a:t>Better product availability</a:t>
                      </a:r>
                    </a:p>
                  </a:txBody>
                  <a:tcPr anchor="ctr"/>
                </a:tc>
                <a:extLst>
                  <a:ext uri="{0D108BD9-81ED-4DB2-BD59-A6C34878D82A}">
                    <a16:rowId xmlns:a16="http://schemas.microsoft.com/office/drawing/2014/main" val="10002"/>
                  </a:ext>
                </a:extLst>
              </a:tr>
              <a:tr h="439144">
                <a:tc>
                  <a:txBody>
                    <a:bodyPr/>
                    <a:lstStyle/>
                    <a:p>
                      <a:r>
                        <a:rPr lang="en-US"/>
                        <a:t>Optimize inventory</a:t>
                      </a:r>
                    </a:p>
                  </a:txBody>
                  <a:tcPr anchor="ctr"/>
                </a:tc>
                <a:tc>
                  <a:txBody>
                    <a:bodyPr/>
                    <a:lstStyle/>
                    <a:p>
                      <a:r>
                        <a:rPr lang="en-US"/>
                        <a:t>Lower holding cost</a:t>
                      </a:r>
                    </a:p>
                  </a:txBody>
                  <a:tcPr anchor="ctr"/>
                </a:tc>
                <a:extLst>
                  <a:ext uri="{0D108BD9-81ED-4DB2-BD59-A6C34878D82A}">
                    <a16:rowId xmlns:a16="http://schemas.microsoft.com/office/drawing/2014/main" val="10003"/>
                  </a:ext>
                </a:extLst>
              </a:tr>
              <a:tr h="439144">
                <a:tc>
                  <a:txBody>
                    <a:bodyPr/>
                    <a:lstStyle/>
                    <a:p>
                      <a:r>
                        <a:rPr lang="en-US"/>
                        <a:t>Enable real-time updates</a:t>
                      </a:r>
                    </a:p>
                  </a:txBody>
                  <a:tcPr anchor="ctr"/>
                </a:tc>
                <a:tc>
                  <a:txBody>
                    <a:bodyPr/>
                    <a:lstStyle/>
                    <a:p>
                      <a:r>
                        <a:rPr lang="en-US"/>
                        <a:t>Faster decision making</a:t>
                      </a:r>
                    </a:p>
                  </a:txBody>
                  <a:tcPr anchor="ctr"/>
                </a:tc>
                <a:extLst>
                  <a:ext uri="{0D108BD9-81ED-4DB2-BD59-A6C34878D82A}">
                    <a16:rowId xmlns:a16="http://schemas.microsoft.com/office/drawing/2014/main" val="10004"/>
                  </a:ext>
                </a:extLst>
              </a:tr>
              <a:tr h="439144">
                <a:tc>
                  <a:txBody>
                    <a:bodyPr/>
                    <a:lstStyle/>
                    <a:p>
                      <a:r>
                        <a:rPr lang="en-US"/>
                        <a:t>Automate warehouse rebalancing</a:t>
                      </a:r>
                    </a:p>
                  </a:txBody>
                  <a:tcPr anchor="ctr"/>
                </a:tc>
                <a:tc>
                  <a:txBody>
                    <a:bodyPr/>
                    <a:lstStyle/>
                    <a:p>
                      <a:r>
                        <a:rPr lang="en-US"/>
                        <a:t>Efficient stock transfer</a:t>
                      </a:r>
                    </a:p>
                  </a:txBody>
                  <a:tcPr anchor="ctr"/>
                </a:tc>
                <a:extLst>
                  <a:ext uri="{0D108BD9-81ED-4DB2-BD59-A6C34878D82A}">
                    <a16:rowId xmlns:a16="http://schemas.microsoft.com/office/drawing/2014/main" val="10005"/>
                  </a:ext>
                </a:extLst>
              </a:tr>
              <a:tr h="439144">
                <a:tc>
                  <a:txBody>
                    <a:bodyPr/>
                    <a:lstStyle/>
                    <a:p>
                      <a:r>
                        <a:rPr lang="en-US"/>
                        <a:t>Improve logistics routing</a:t>
                      </a:r>
                    </a:p>
                  </a:txBody>
                  <a:tcPr anchor="ctr"/>
                </a:tc>
                <a:tc>
                  <a:txBody>
                    <a:bodyPr/>
                    <a:lstStyle/>
                    <a:p>
                      <a:r>
                        <a:rPr lang="en-US"/>
                        <a:t>Reduced transportation cost</a:t>
                      </a:r>
                    </a:p>
                  </a:txBody>
                  <a:tcPr anchor="ctr"/>
                </a:tc>
                <a:extLst>
                  <a:ext uri="{0D108BD9-81ED-4DB2-BD59-A6C34878D82A}">
                    <a16:rowId xmlns:a16="http://schemas.microsoft.com/office/drawing/2014/main" val="10006"/>
                  </a:ext>
                </a:extLst>
              </a:tr>
              <a:tr h="598831">
                <a:tc>
                  <a:txBody>
                    <a:bodyPr/>
                    <a:lstStyle/>
                    <a:p>
                      <a:r>
                        <a:rPr lang="en-US"/>
                        <a:t>Increase system reliability</a:t>
                      </a:r>
                    </a:p>
                  </a:txBody>
                  <a:tcPr anchor="ctr"/>
                </a:tc>
                <a:tc>
                  <a:txBody>
                    <a:bodyPr/>
                    <a:lstStyle/>
                    <a:p>
                      <a:r>
                        <a:rPr lang="en-US" dirty="0"/>
                        <a:t>Continuous operation during failures</a:t>
                      </a:r>
                    </a:p>
                  </a:txBody>
                  <a:tcPr anchor="ctr"/>
                </a:tc>
                <a:extLst>
                  <a:ext uri="{0D108BD9-81ED-4DB2-BD59-A6C34878D82A}">
                    <a16:rowId xmlns:a16="http://schemas.microsoft.com/office/drawing/2014/main" val="10007"/>
                  </a:ext>
                </a:extLst>
              </a:tr>
            </a:tbl>
          </a:graphicData>
        </a:graphic>
      </p:graphicFrame>
      <p:sp>
        <p:nvSpPr>
          <p:cNvPr id="3" name="Slide Number Placeholder 3">
            <a:extLst>
              <a:ext uri="{FF2B5EF4-FFF2-40B4-BE49-F238E27FC236}">
                <a16:creationId xmlns:a16="http://schemas.microsoft.com/office/drawing/2014/main" id="{1935BDC4-C8E1-3E92-75BF-B1245D1367BD}"/>
              </a:ext>
            </a:extLst>
          </p:cNvPr>
          <p:cNvSpPr>
            <a:spLocks noGrp="1"/>
          </p:cNvSpPr>
          <p:nvPr>
            <p:ph type="sldNum" idx="12"/>
          </p:nvPr>
        </p:nvSpPr>
        <p:spPr>
          <a:xfrm>
            <a:off x="8595300" y="4824983"/>
            <a:ext cx="548700" cy="393600"/>
          </a:xfrm>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7</a:t>
            </a:fld>
            <a:r>
              <a:rPr lang="en-GB" dirty="0"/>
              <a:t>/13</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218" y="332510"/>
            <a:ext cx="8472082" cy="651164"/>
          </a:xfrm>
          <a:solidFill>
            <a:schemeClr val="bg1"/>
          </a:solidFill>
          <a:ln>
            <a:solidFill>
              <a:schemeClr val="bg1"/>
            </a:solidFill>
          </a:ln>
        </p:spPr>
        <p:txBody>
          <a:bodyPr>
            <a:normAutofit/>
          </a:bodyPr>
          <a:lstStyle/>
          <a:p>
            <a:pPr algn="ctr"/>
            <a:r>
              <a:rPr lang="en-US" sz="2400" dirty="0">
                <a:solidFill>
                  <a:schemeClr val="accent1">
                    <a:lumMod val="75000"/>
                  </a:schemeClr>
                </a:solidFill>
                <a:latin typeface="Book Antiqua" pitchFamily="18" charset="0"/>
              </a:rPr>
              <a:t>System Modules &amp; Team Responsibilities</a:t>
            </a:r>
          </a:p>
        </p:txBody>
      </p:sp>
      <p:sp>
        <p:nvSpPr>
          <p:cNvPr id="3" name="Text Placeholder 2"/>
          <p:cNvSpPr>
            <a:spLocks noGrp="1"/>
          </p:cNvSpPr>
          <p:nvPr>
            <p:ph type="body" idx="1"/>
          </p:nvPr>
        </p:nvSpPr>
        <p:spPr>
          <a:xfrm>
            <a:off x="257912" y="1439345"/>
            <a:ext cx="8520600" cy="3049528"/>
          </a:xfrm>
        </p:spPr>
        <p:txBody>
          <a:bodyPr>
            <a:normAutofit fontScale="97500"/>
          </a:bodyPr>
          <a:lstStyle/>
          <a:p>
            <a:pPr marL="114300" indent="0" algn="just">
              <a:buNone/>
            </a:pPr>
            <a:endParaRPr lang="en-US" altLang="en-US" sz="1600" dirty="0">
              <a:solidFill>
                <a:schemeClr val="tx1"/>
              </a:solidFill>
              <a:latin typeface="Times New Roman" pitchFamily="18" charset="0"/>
              <a:cs typeface="Times New Roman" pitchFamily="18" charset="0"/>
            </a:endParaRPr>
          </a:p>
        </p:txBody>
      </p:sp>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8</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graphicFrame>
        <p:nvGraphicFramePr>
          <p:cNvPr id="5" name="Table 4"/>
          <p:cNvGraphicFramePr>
            <a:graphicFrameLocks noGrp="1"/>
          </p:cNvGraphicFramePr>
          <p:nvPr>
            <p:extLst>
              <p:ext uri="{D42A27DB-BD31-4B8C-83A1-F6EECF244321}">
                <p14:modId xmlns:p14="http://schemas.microsoft.com/office/powerpoint/2010/main" val="3215309304"/>
              </p:ext>
            </p:extLst>
          </p:nvPr>
        </p:nvGraphicFramePr>
        <p:xfrm>
          <a:off x="256309" y="938782"/>
          <a:ext cx="8756072" cy="3821866"/>
        </p:xfrm>
        <a:graphic>
          <a:graphicData uri="http://schemas.openxmlformats.org/drawingml/2006/table">
            <a:tbl>
              <a:tblPr firstRow="1" bandRow="1">
                <a:tableStyleId>{073A0DAA-6AF3-43AB-8588-CEC1D06C72B9}</a:tableStyleId>
              </a:tblPr>
              <a:tblGrid>
                <a:gridCol w="2918691">
                  <a:extLst>
                    <a:ext uri="{9D8B030D-6E8A-4147-A177-3AD203B41FA5}">
                      <a16:colId xmlns:a16="http://schemas.microsoft.com/office/drawing/2014/main" val="20000"/>
                    </a:ext>
                  </a:extLst>
                </a:gridCol>
                <a:gridCol w="1862403">
                  <a:extLst>
                    <a:ext uri="{9D8B030D-6E8A-4147-A177-3AD203B41FA5}">
                      <a16:colId xmlns:a16="http://schemas.microsoft.com/office/drawing/2014/main" val="20001"/>
                    </a:ext>
                  </a:extLst>
                </a:gridCol>
                <a:gridCol w="3974978">
                  <a:extLst>
                    <a:ext uri="{9D8B030D-6E8A-4147-A177-3AD203B41FA5}">
                      <a16:colId xmlns:a16="http://schemas.microsoft.com/office/drawing/2014/main" val="20002"/>
                    </a:ext>
                  </a:extLst>
                </a:gridCol>
              </a:tblGrid>
              <a:tr h="596090">
                <a:tc>
                  <a:txBody>
                    <a:bodyPr/>
                    <a:lstStyle/>
                    <a:p>
                      <a:r>
                        <a:rPr lang="en-US" sz="1200" b="1" dirty="0">
                          <a:latin typeface="Times New Roman" pitchFamily="18" charset="0"/>
                          <a:cs typeface="Times New Roman" pitchFamily="18" charset="0"/>
                        </a:rPr>
                        <a:t>System Module</a:t>
                      </a:r>
                      <a:endParaRPr lang="en-US" sz="1200" dirty="0">
                        <a:latin typeface="Times New Roman" pitchFamily="18" charset="0"/>
                        <a:cs typeface="Times New Roman" pitchFamily="18" charset="0"/>
                      </a:endParaRPr>
                    </a:p>
                  </a:txBody>
                  <a:tcPr anchor="ctr"/>
                </a:tc>
                <a:tc>
                  <a:txBody>
                    <a:bodyPr/>
                    <a:lstStyle/>
                    <a:p>
                      <a:r>
                        <a:rPr lang="en-US" sz="1200" b="1" dirty="0">
                          <a:latin typeface="Times New Roman" pitchFamily="18" charset="0"/>
                          <a:cs typeface="Times New Roman" pitchFamily="18" charset="0"/>
                        </a:rPr>
                        <a:t>Team Member</a:t>
                      </a:r>
                      <a:endParaRPr lang="en-US" sz="1200" dirty="0">
                        <a:latin typeface="Times New Roman" pitchFamily="18" charset="0"/>
                        <a:cs typeface="Times New Roman" pitchFamily="18" charset="0"/>
                      </a:endParaRPr>
                    </a:p>
                  </a:txBody>
                  <a:tcPr anchor="ctr"/>
                </a:tc>
                <a:tc>
                  <a:txBody>
                    <a:bodyPr/>
                    <a:lstStyle/>
                    <a:p>
                      <a:r>
                        <a:rPr lang="en-US" sz="1200" b="1" dirty="0">
                          <a:latin typeface="Times New Roman" pitchFamily="18" charset="0"/>
                          <a:cs typeface="Times New Roman" pitchFamily="18" charset="0"/>
                        </a:rPr>
                        <a:t>Responsibilities</a:t>
                      </a:r>
                      <a:endParaRPr lang="en-US" sz="1200"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646854">
                <a:tc>
                  <a:txBody>
                    <a:bodyPr/>
                    <a:lstStyle/>
                    <a:p>
                      <a:r>
                        <a:rPr lang="en-US" sz="1200" b="1" dirty="0">
                          <a:latin typeface="Times New Roman" pitchFamily="18" charset="0"/>
                          <a:cs typeface="Times New Roman" pitchFamily="18" charset="0"/>
                        </a:rPr>
                        <a:t>Integration Engineer</a:t>
                      </a:r>
                      <a:endParaRPr lang="en-US" sz="1200" dirty="0">
                        <a:latin typeface="Times New Roman" pitchFamily="18" charset="0"/>
                        <a:cs typeface="Times New Roman" pitchFamily="18" charset="0"/>
                      </a:endParaRPr>
                    </a:p>
                  </a:txBody>
                  <a:tcPr anchor="ctr"/>
                </a:tc>
                <a:tc>
                  <a:txBody>
                    <a:bodyPr/>
                    <a:lstStyle/>
                    <a:p>
                      <a:r>
                        <a:rPr lang="en-US" sz="1200" b="1" dirty="0" err="1">
                          <a:latin typeface="Times New Roman" pitchFamily="18" charset="0"/>
                          <a:cs typeface="Times New Roman" pitchFamily="18" charset="0"/>
                        </a:rPr>
                        <a:t>Akash.M</a:t>
                      </a:r>
                      <a:endParaRPr lang="en-US" sz="1200" dirty="0">
                        <a:latin typeface="Times New Roman" pitchFamily="18" charset="0"/>
                        <a:cs typeface="Times New Roman" pitchFamily="18" charset="0"/>
                      </a:endParaRPr>
                    </a:p>
                  </a:txBody>
                  <a:tcPr anchor="ctr"/>
                </a:tc>
                <a:tc>
                  <a:txBody>
                    <a:bodyPr/>
                    <a:lstStyle/>
                    <a:p>
                      <a:r>
                        <a:rPr lang="en-US" sz="1200">
                          <a:latin typeface="Times New Roman" pitchFamily="18" charset="0"/>
                          <a:cs typeface="Times New Roman" pitchFamily="18" charset="0"/>
                        </a:rPr>
                        <a:t>Managed the overall project, integrated frontend, backend, ML, and database modules, and ensured smooth system functionality.</a:t>
                      </a:r>
                    </a:p>
                  </a:txBody>
                  <a:tcPr anchor="ctr"/>
                </a:tc>
                <a:extLst>
                  <a:ext uri="{0D108BD9-81ED-4DB2-BD59-A6C34878D82A}">
                    <a16:rowId xmlns:a16="http://schemas.microsoft.com/office/drawing/2014/main" val="10001"/>
                  </a:ext>
                </a:extLst>
              </a:tr>
              <a:tr h="596090">
                <a:tc>
                  <a:txBody>
                    <a:bodyPr/>
                    <a:lstStyle/>
                    <a:p>
                      <a:r>
                        <a:rPr lang="en-US" sz="1200" b="1" dirty="0">
                          <a:latin typeface="Times New Roman" pitchFamily="18" charset="0"/>
                          <a:cs typeface="Times New Roman" pitchFamily="18" charset="0"/>
                        </a:rPr>
                        <a:t>Frontend Development</a:t>
                      </a:r>
                      <a:endParaRPr lang="en-US" sz="1200" dirty="0">
                        <a:latin typeface="Times New Roman" pitchFamily="18" charset="0"/>
                        <a:cs typeface="Times New Roman" pitchFamily="18" charset="0"/>
                      </a:endParaRPr>
                    </a:p>
                  </a:txBody>
                  <a:tcPr anchor="ctr"/>
                </a:tc>
                <a:tc>
                  <a:txBody>
                    <a:bodyPr/>
                    <a:lstStyle/>
                    <a:p>
                      <a:r>
                        <a:rPr lang="en-US" sz="1200" b="1" dirty="0" err="1">
                          <a:latin typeface="Times New Roman" pitchFamily="18" charset="0"/>
                          <a:cs typeface="Times New Roman" pitchFamily="18" charset="0"/>
                        </a:rPr>
                        <a:t>Agalya.B</a:t>
                      </a:r>
                      <a:endParaRPr lang="en-US" sz="1200" dirty="0">
                        <a:latin typeface="Times New Roman" pitchFamily="18" charset="0"/>
                        <a:cs typeface="Times New Roman" pitchFamily="18" charset="0"/>
                      </a:endParaRPr>
                    </a:p>
                  </a:txBody>
                  <a:tcPr anchor="ctr"/>
                </a:tc>
                <a:tc>
                  <a:txBody>
                    <a:bodyPr/>
                    <a:lstStyle/>
                    <a:p>
                      <a:r>
                        <a:rPr lang="en-US" sz="1200">
                          <a:latin typeface="Times New Roman" pitchFamily="18" charset="0"/>
                          <a:cs typeface="Times New Roman" pitchFamily="18" charset="0"/>
                        </a:rPr>
                        <a:t>Designed and developed the user interface, dashboards, charts, and responsive web pages for real-time monitoring.</a:t>
                      </a:r>
                    </a:p>
                  </a:txBody>
                  <a:tcPr anchor="ctr"/>
                </a:tc>
                <a:extLst>
                  <a:ext uri="{0D108BD9-81ED-4DB2-BD59-A6C34878D82A}">
                    <a16:rowId xmlns:a16="http://schemas.microsoft.com/office/drawing/2014/main" val="10002"/>
                  </a:ext>
                </a:extLst>
              </a:tr>
              <a:tr h="660944">
                <a:tc>
                  <a:txBody>
                    <a:bodyPr/>
                    <a:lstStyle/>
                    <a:p>
                      <a:r>
                        <a:rPr lang="en-US" sz="1200" b="1">
                          <a:latin typeface="Times New Roman" pitchFamily="18" charset="0"/>
                          <a:cs typeface="Times New Roman" pitchFamily="18" charset="0"/>
                        </a:rPr>
                        <a:t>Backend Development</a:t>
                      </a:r>
                      <a:endParaRPr lang="en-US" sz="1200">
                        <a:latin typeface="Times New Roman" pitchFamily="18" charset="0"/>
                        <a:cs typeface="Times New Roman" pitchFamily="18" charset="0"/>
                      </a:endParaRPr>
                    </a:p>
                  </a:txBody>
                  <a:tcPr anchor="ctr"/>
                </a:tc>
                <a:tc>
                  <a:txBody>
                    <a:bodyPr/>
                    <a:lstStyle/>
                    <a:p>
                      <a:r>
                        <a:rPr lang="en-US" sz="1200" b="1" dirty="0" err="1">
                          <a:latin typeface="Times New Roman" pitchFamily="18" charset="0"/>
                          <a:cs typeface="Times New Roman" pitchFamily="18" charset="0"/>
                        </a:rPr>
                        <a:t>Afrid</a:t>
                      </a:r>
                      <a:r>
                        <a:rPr lang="en-US" sz="1200" b="1" dirty="0">
                          <a:latin typeface="Times New Roman" pitchFamily="18" charset="0"/>
                          <a:cs typeface="Times New Roman" pitchFamily="18" charset="0"/>
                        </a:rPr>
                        <a:t> </a:t>
                      </a:r>
                      <a:r>
                        <a:rPr lang="en-US" sz="1200" b="1" dirty="0" err="1">
                          <a:latin typeface="Times New Roman" pitchFamily="18" charset="0"/>
                          <a:cs typeface="Times New Roman" pitchFamily="18" charset="0"/>
                        </a:rPr>
                        <a:t>Ahamed.B</a:t>
                      </a:r>
                      <a:endParaRPr lang="en-US" sz="1200" dirty="0">
                        <a:latin typeface="Times New Roman" pitchFamily="18" charset="0"/>
                        <a:cs typeface="Times New Roman" pitchFamily="18" charset="0"/>
                      </a:endParaRPr>
                    </a:p>
                  </a:txBody>
                  <a:tcPr anchor="ctr"/>
                </a:tc>
                <a:tc>
                  <a:txBody>
                    <a:bodyPr/>
                    <a:lstStyle/>
                    <a:p>
                      <a:r>
                        <a:rPr lang="en-US" sz="1200">
                          <a:latin typeface="Times New Roman" pitchFamily="18" charset="0"/>
                          <a:cs typeface="Times New Roman" pitchFamily="18" charset="0"/>
                        </a:rPr>
                        <a:t>Developed REST APIs using FastAPI, handled business logic, integrated WebSockets for real-time communication, and connected the frontend with ML and database modules.</a:t>
                      </a:r>
                    </a:p>
                  </a:txBody>
                  <a:tcPr anchor="ctr"/>
                </a:tc>
                <a:extLst>
                  <a:ext uri="{0D108BD9-81ED-4DB2-BD59-A6C34878D82A}">
                    <a16:rowId xmlns:a16="http://schemas.microsoft.com/office/drawing/2014/main" val="10003"/>
                  </a:ext>
                </a:extLst>
              </a:tr>
              <a:tr h="660944">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b="1" dirty="0">
                          <a:latin typeface="Times New Roman" pitchFamily="18" charset="0"/>
                          <a:cs typeface="Times New Roman" pitchFamily="18" charset="0"/>
                        </a:rPr>
                        <a:t>ML Engineer</a:t>
                      </a:r>
                    </a:p>
                  </a:txBody>
                  <a:tcPr anchor="ctr"/>
                </a:tc>
                <a:tc>
                  <a:txBody>
                    <a:bodyPr/>
                    <a:lstStyle/>
                    <a:p>
                      <a:r>
                        <a:rPr lang="en-US" sz="1200" b="1" dirty="0" err="1">
                          <a:latin typeface="Times New Roman" pitchFamily="18" charset="0"/>
                          <a:cs typeface="Times New Roman" pitchFamily="18" charset="0"/>
                        </a:rPr>
                        <a:t>Abisheak.B</a:t>
                      </a:r>
                      <a:endParaRPr lang="en-US" sz="1200" dirty="0">
                        <a:latin typeface="Times New Roman" pitchFamily="18" charset="0"/>
                        <a:cs typeface="Times New Roman" pitchFamily="18" charset="0"/>
                      </a:endParaRPr>
                    </a:p>
                  </a:txBody>
                  <a:tcPr anchor="ctr"/>
                </a:tc>
                <a:tc>
                  <a:txBody>
                    <a:bodyPr/>
                    <a:lstStyle/>
                    <a:p>
                      <a:r>
                        <a:rPr lang="en-US" sz="1200">
                          <a:latin typeface="Times New Roman" pitchFamily="18" charset="0"/>
                          <a:cs typeface="Times New Roman" pitchFamily="18" charset="0"/>
                        </a:rPr>
                        <a:t>Built demand forecasting models, performed data preprocessing, feature engineering, model training, and prediction.</a:t>
                      </a:r>
                    </a:p>
                  </a:txBody>
                  <a:tcPr anchor="ctr"/>
                </a:tc>
                <a:extLst>
                  <a:ext uri="{0D108BD9-81ED-4DB2-BD59-A6C34878D82A}">
                    <a16:rowId xmlns:a16="http://schemas.microsoft.com/office/drawing/2014/main" val="10004"/>
                  </a:ext>
                </a:extLst>
              </a:tr>
              <a:tr h="660944">
                <a:tc>
                  <a:txBody>
                    <a:bodyPr/>
                    <a:lstStyle/>
                    <a:p>
                      <a:r>
                        <a:rPr lang="en-US" sz="1200" b="1" dirty="0">
                          <a:latin typeface="Times New Roman" pitchFamily="18" charset="0"/>
                          <a:cs typeface="Times New Roman" pitchFamily="18" charset="0"/>
                        </a:rPr>
                        <a:t>Database Management</a:t>
                      </a:r>
                      <a:endParaRPr lang="en-US" sz="1200" dirty="0">
                        <a:latin typeface="Times New Roman" pitchFamily="18" charset="0"/>
                        <a:cs typeface="Times New Roman" pitchFamily="18" charset="0"/>
                      </a:endParaRPr>
                    </a:p>
                  </a:txBody>
                  <a:tcPr anchor="ctr"/>
                </a:tc>
                <a:tc>
                  <a:txBody>
                    <a:bodyPr/>
                    <a:lstStyle/>
                    <a:p>
                      <a:r>
                        <a:rPr lang="en-US" sz="1200" b="1" dirty="0" err="1">
                          <a:latin typeface="Times New Roman" pitchFamily="18" charset="0"/>
                          <a:cs typeface="Times New Roman" pitchFamily="18" charset="0"/>
                        </a:rPr>
                        <a:t>Akash.M</a:t>
                      </a:r>
                      <a:endParaRPr lang="en-US" sz="1200" dirty="0">
                        <a:latin typeface="Times New Roman" pitchFamily="18" charset="0"/>
                        <a:cs typeface="Times New Roman" pitchFamily="18" charset="0"/>
                      </a:endParaRPr>
                    </a:p>
                  </a:txBody>
                  <a:tcPr anchor="ctr"/>
                </a:tc>
                <a:tc>
                  <a:txBody>
                    <a:bodyPr/>
                    <a:lstStyle/>
                    <a:p>
                      <a:r>
                        <a:rPr lang="en-US" sz="1200" dirty="0">
                          <a:latin typeface="Times New Roman" pitchFamily="18" charset="0"/>
                          <a:cs typeface="Times New Roman" pitchFamily="18" charset="0"/>
                        </a:rPr>
                        <a:t>Designed and managed the database, handled inventory and transaction data, and ensured efficient data storage and retrieval.</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218" y="332510"/>
            <a:ext cx="8472082" cy="651164"/>
          </a:xfrm>
          <a:solidFill>
            <a:schemeClr val="bg1"/>
          </a:solidFill>
          <a:ln>
            <a:solidFill>
              <a:schemeClr val="bg1"/>
            </a:solidFill>
          </a:ln>
        </p:spPr>
        <p:txBody>
          <a:bodyPr>
            <a:normAutofit/>
          </a:bodyPr>
          <a:lstStyle/>
          <a:p>
            <a:pPr algn="ctr"/>
            <a:r>
              <a:rPr lang="en-US" sz="2400" dirty="0">
                <a:solidFill>
                  <a:schemeClr val="accent1">
                    <a:lumMod val="75000"/>
                  </a:schemeClr>
                </a:solidFill>
                <a:latin typeface="Book Antiqua" pitchFamily="18" charset="0"/>
              </a:rPr>
              <a:t>Technologies</a:t>
            </a:r>
          </a:p>
        </p:txBody>
      </p:sp>
      <p:sp>
        <p:nvSpPr>
          <p:cNvPr id="3" name="Text Placeholder 2"/>
          <p:cNvSpPr>
            <a:spLocks noGrp="1"/>
          </p:cNvSpPr>
          <p:nvPr>
            <p:ph type="body" idx="1"/>
          </p:nvPr>
        </p:nvSpPr>
        <p:spPr>
          <a:xfrm>
            <a:off x="257912" y="1439345"/>
            <a:ext cx="8520600" cy="3049528"/>
          </a:xfrm>
        </p:spPr>
        <p:txBody>
          <a:bodyPr>
            <a:normAutofit fontScale="97500"/>
          </a:bodyPr>
          <a:lstStyle/>
          <a:p>
            <a:pPr marL="114300" indent="0" algn="just">
              <a:buNone/>
            </a:pPr>
            <a:endParaRPr lang="en-US" altLang="en-US" sz="1600" dirty="0">
              <a:solidFill>
                <a:schemeClr val="tx1"/>
              </a:solidFill>
              <a:latin typeface="Times New Roman" pitchFamily="18" charset="0"/>
              <a:cs typeface="Times New Roman" pitchFamily="18" charset="0"/>
            </a:endParaRPr>
          </a:p>
        </p:txBody>
      </p:sp>
      <p:sp>
        <p:nvSpPr>
          <p:cNvPr id="8" name="Slide Number Placeholder 2"/>
          <p:cNvSpPr txBox="1"/>
          <p:nvPr/>
        </p:nvSpPr>
        <p:spPr>
          <a:xfrm>
            <a:off x="8621542" y="4794022"/>
            <a:ext cx="548700" cy="393600"/>
          </a:xfrm>
          <a:prstGeom prst="rect">
            <a:avLst/>
          </a:prstGeom>
          <a:noFill/>
          <a:ln>
            <a:noFill/>
          </a:ln>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GB" sz="1000" b="0" i="0" u="none" strike="noStrike" kern="0" cap="none" spc="0" normalizeH="0" baseline="0" noProof="0" smtClean="0">
                <a:ln>
                  <a:noFill/>
                </a:ln>
                <a:solidFill>
                  <a:schemeClr val="dk2"/>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t>9</a:t>
            </a:fld>
            <a:r>
              <a:rPr kumimoji="0" lang="en-GB" sz="1000" b="0" i="0" u="none" strike="noStrike" kern="0" cap="none" spc="0" normalizeH="0" baseline="0" noProof="0">
                <a:ln>
                  <a:noFill/>
                </a:ln>
                <a:solidFill>
                  <a:schemeClr val="dk2"/>
                </a:solidFill>
                <a:effectLst/>
                <a:uLnTx/>
                <a:uFillTx/>
                <a:latin typeface="Arial" panose="020B0604020202020204"/>
                <a:ea typeface="Arial" panose="020B0604020202020204"/>
                <a:cs typeface="Arial" panose="020B0604020202020204"/>
                <a:sym typeface="Arial" panose="020B0604020202020204"/>
              </a:rPr>
              <a:t>/13</a:t>
            </a:r>
            <a:endParaRPr kumimoji="0" lang="en-GB" sz="1000" b="0" i="0" u="none" strike="noStrike" kern="0" cap="none" spc="0" normalizeH="0" baseline="0" noProof="0" dirty="0">
              <a:ln>
                <a:noFill/>
              </a:ln>
              <a:solidFill>
                <a:schemeClr val="dk2"/>
              </a:solidFill>
              <a:effectLst/>
              <a:uLnTx/>
              <a:uFillTx/>
              <a:latin typeface="Arial" panose="020B0604020202020204"/>
              <a:ea typeface="Arial" panose="020B0604020202020204"/>
              <a:cs typeface="Arial" panose="020B0604020202020204"/>
              <a:sym typeface="Arial" panose="020B0604020202020204"/>
            </a:endParaRPr>
          </a:p>
        </p:txBody>
      </p:sp>
      <p:graphicFrame>
        <p:nvGraphicFramePr>
          <p:cNvPr id="5" name="Table 4"/>
          <p:cNvGraphicFramePr>
            <a:graphicFrameLocks noGrp="1"/>
          </p:cNvGraphicFramePr>
          <p:nvPr>
            <p:extLst>
              <p:ext uri="{D42A27DB-BD31-4B8C-83A1-F6EECF244321}">
                <p14:modId xmlns:p14="http://schemas.microsoft.com/office/powerpoint/2010/main" val="3215309304"/>
              </p:ext>
            </p:extLst>
          </p:nvPr>
        </p:nvGraphicFramePr>
        <p:xfrm>
          <a:off x="256309" y="938782"/>
          <a:ext cx="8671123" cy="3697386"/>
        </p:xfrm>
        <a:graphic>
          <a:graphicData uri="http://schemas.openxmlformats.org/drawingml/2006/table">
            <a:tbl>
              <a:tblPr firstRow="1" bandRow="1">
                <a:tableStyleId>{073A0DAA-6AF3-43AB-8588-CEC1D06C72B9}</a:tableStyleId>
              </a:tblPr>
              <a:tblGrid>
                <a:gridCol w="1874964">
                  <a:extLst>
                    <a:ext uri="{9D8B030D-6E8A-4147-A177-3AD203B41FA5}">
                      <a16:colId xmlns:a16="http://schemas.microsoft.com/office/drawing/2014/main" val="20000"/>
                    </a:ext>
                  </a:extLst>
                </a:gridCol>
                <a:gridCol w="2859745">
                  <a:extLst>
                    <a:ext uri="{9D8B030D-6E8A-4147-A177-3AD203B41FA5}">
                      <a16:colId xmlns:a16="http://schemas.microsoft.com/office/drawing/2014/main" val="20001"/>
                    </a:ext>
                  </a:extLst>
                </a:gridCol>
                <a:gridCol w="3936414">
                  <a:extLst>
                    <a:ext uri="{9D8B030D-6E8A-4147-A177-3AD203B41FA5}">
                      <a16:colId xmlns:a16="http://schemas.microsoft.com/office/drawing/2014/main" val="20002"/>
                    </a:ext>
                  </a:extLst>
                </a:gridCol>
              </a:tblGrid>
              <a:tr h="679068">
                <a:tc>
                  <a:txBody>
                    <a:bodyPr/>
                    <a:lstStyle/>
                    <a:p>
                      <a:r>
                        <a:rPr lang="en-US" dirty="0">
                          <a:latin typeface="Times New Roman" pitchFamily="18" charset="0"/>
                          <a:cs typeface="Times New Roman" pitchFamily="18" charset="0"/>
                        </a:rPr>
                        <a:t>Module</a:t>
                      </a:r>
                    </a:p>
                  </a:txBody>
                  <a:tcPr anchor="ctr"/>
                </a:tc>
                <a:tc>
                  <a:txBody>
                    <a:bodyPr/>
                    <a:lstStyle/>
                    <a:p>
                      <a:r>
                        <a:rPr lang="en-US">
                          <a:latin typeface="Times New Roman" pitchFamily="18" charset="0"/>
                          <a:cs typeface="Times New Roman" pitchFamily="18" charset="0"/>
                        </a:rPr>
                        <a:t>Technologies Used</a:t>
                      </a:r>
                    </a:p>
                  </a:txBody>
                  <a:tcPr anchor="ctr"/>
                </a:tc>
                <a:tc>
                  <a:txBody>
                    <a:bodyPr/>
                    <a:lstStyle/>
                    <a:p>
                      <a:r>
                        <a:rPr lang="en-US">
                          <a:latin typeface="Times New Roman" pitchFamily="18" charset="0"/>
                          <a:cs typeface="Times New Roman" pitchFamily="18" charset="0"/>
                        </a:rPr>
                        <a:t>Application</a:t>
                      </a:r>
                    </a:p>
                  </a:txBody>
                  <a:tcPr anchor="ctr"/>
                </a:tc>
                <a:extLst>
                  <a:ext uri="{0D108BD9-81ED-4DB2-BD59-A6C34878D82A}">
                    <a16:rowId xmlns:a16="http://schemas.microsoft.com/office/drawing/2014/main" val="10000"/>
                  </a:ext>
                </a:extLst>
              </a:tr>
              <a:tr h="752950">
                <a:tc>
                  <a:txBody>
                    <a:bodyPr/>
                    <a:lstStyle/>
                    <a:p>
                      <a:r>
                        <a:rPr lang="en-US">
                          <a:latin typeface="Times New Roman" pitchFamily="18" charset="0"/>
                          <a:cs typeface="Times New Roman" pitchFamily="18" charset="0"/>
                        </a:rPr>
                        <a:t>Frontend</a:t>
                      </a:r>
                    </a:p>
                  </a:txBody>
                  <a:tcPr anchor="ctr"/>
                </a:tc>
                <a:tc>
                  <a:txBody>
                    <a:bodyPr/>
                    <a:lstStyle/>
                    <a:p>
                      <a:r>
                        <a:rPr lang="en-US" dirty="0">
                          <a:latin typeface="Times New Roman" pitchFamily="18" charset="0"/>
                          <a:cs typeface="Times New Roman" pitchFamily="18" charset="0"/>
                        </a:rPr>
                        <a:t>Tailwind CSS, Chart.js, Leaflet.js, HTML5</a:t>
                      </a:r>
                    </a:p>
                  </a:txBody>
                  <a:tcPr anchor="ctr"/>
                </a:tc>
                <a:tc>
                  <a:txBody>
                    <a:bodyPr/>
                    <a:lstStyle/>
                    <a:p>
                      <a:r>
                        <a:rPr lang="en-US">
                          <a:latin typeface="Times New Roman" pitchFamily="18" charset="0"/>
                          <a:cs typeface="Times New Roman" pitchFamily="18" charset="0"/>
                        </a:rPr>
                        <a:t>Dashboard UI, inventory charts, demand graphs, hub route mapping</a:t>
                      </a:r>
                    </a:p>
                  </a:txBody>
                  <a:tcPr anchor="ctr"/>
                </a:tc>
                <a:extLst>
                  <a:ext uri="{0D108BD9-81ED-4DB2-BD59-A6C34878D82A}">
                    <a16:rowId xmlns:a16="http://schemas.microsoft.com/office/drawing/2014/main" val="10001"/>
                  </a:ext>
                </a:extLst>
              </a:tr>
              <a:tr h="679068">
                <a:tc>
                  <a:txBody>
                    <a:bodyPr/>
                    <a:lstStyle/>
                    <a:p>
                      <a:r>
                        <a:rPr lang="en-US">
                          <a:latin typeface="Times New Roman" pitchFamily="18" charset="0"/>
                          <a:cs typeface="Times New Roman" pitchFamily="18" charset="0"/>
                        </a:rPr>
                        <a:t>Backend</a:t>
                      </a:r>
                    </a:p>
                  </a:txBody>
                  <a:tcPr anchor="ctr"/>
                </a:tc>
                <a:tc>
                  <a:txBody>
                    <a:bodyPr/>
                    <a:lstStyle/>
                    <a:p>
                      <a:r>
                        <a:rPr lang="en-US">
                          <a:latin typeface="Times New Roman" pitchFamily="18" charset="0"/>
                          <a:cs typeface="Times New Roman" pitchFamily="18" charset="0"/>
                        </a:rPr>
                        <a:t>FastAPI, Uvicorn, WebSockets, Python 3.10+</a:t>
                      </a:r>
                    </a:p>
                  </a:txBody>
                  <a:tcPr anchor="ctr"/>
                </a:tc>
                <a:tc>
                  <a:txBody>
                    <a:bodyPr/>
                    <a:lstStyle/>
                    <a:p>
                      <a:r>
                        <a:rPr lang="en-US">
                          <a:latin typeface="Times New Roman" pitchFamily="18" charset="0"/>
                          <a:cs typeface="Times New Roman" pitchFamily="18" charset="0"/>
                        </a:rPr>
                        <a:t>REST API endpoints, ASGI server, real-time WebSocket broadcasting, CORS handling</a:t>
                      </a:r>
                    </a:p>
                  </a:txBody>
                  <a:tcPr anchor="ctr"/>
                </a:tc>
                <a:extLst>
                  <a:ext uri="{0D108BD9-81ED-4DB2-BD59-A6C34878D82A}">
                    <a16:rowId xmlns:a16="http://schemas.microsoft.com/office/drawing/2014/main" val="10002"/>
                  </a:ext>
                </a:extLst>
              </a:tr>
              <a:tr h="833350">
                <a:tc>
                  <a:txBody>
                    <a:bodyPr/>
                    <a:lstStyle/>
                    <a:p>
                      <a:r>
                        <a:rPr lang="en-US">
                          <a:latin typeface="Times New Roman" pitchFamily="18" charset="0"/>
                          <a:cs typeface="Times New Roman" pitchFamily="18" charset="0"/>
                        </a:rPr>
                        <a:t>Machine Learning</a:t>
                      </a:r>
                    </a:p>
                  </a:txBody>
                  <a:tcPr anchor="ctr"/>
                </a:tc>
                <a:tc>
                  <a:txBody>
                    <a:bodyPr/>
                    <a:lstStyle/>
                    <a:p>
                      <a:r>
                        <a:rPr lang="en-US">
                          <a:latin typeface="Times New Roman" pitchFamily="18" charset="0"/>
                          <a:cs typeface="Times New Roman" pitchFamily="18" charset="0"/>
                        </a:rPr>
                        <a:t>Scikit-Learn, LightGBM, HistGradientBoosting, Pandas, NumPy</a:t>
                      </a:r>
                    </a:p>
                  </a:txBody>
                  <a:tcPr anchor="ctr"/>
                </a:tc>
                <a:tc>
                  <a:txBody>
                    <a:bodyPr/>
                    <a:lstStyle/>
                    <a:p>
                      <a:r>
                        <a:rPr lang="en-US" dirty="0">
                          <a:latin typeface="Times New Roman" pitchFamily="18" charset="0"/>
                          <a:cs typeface="Times New Roman" pitchFamily="18" charset="0"/>
                        </a:rPr>
                        <a:t>Demand forecasting, ensemble regression, feature engineering, model selection</a:t>
                      </a:r>
                    </a:p>
                  </a:txBody>
                  <a:tcPr anchor="ctr"/>
                </a:tc>
                <a:extLst>
                  <a:ext uri="{0D108BD9-81ED-4DB2-BD59-A6C34878D82A}">
                    <a16:rowId xmlns:a16="http://schemas.microsoft.com/office/drawing/2014/main" val="10003"/>
                  </a:ext>
                </a:extLst>
              </a:tr>
              <a:tr h="752950">
                <a:tc>
                  <a:txBody>
                    <a:bodyPr/>
                    <a:lstStyle/>
                    <a:p>
                      <a:r>
                        <a:rPr lang="en-US">
                          <a:latin typeface="Times New Roman" pitchFamily="18" charset="0"/>
                          <a:cs typeface="Times New Roman" pitchFamily="18" charset="0"/>
                        </a:rPr>
                        <a:t>Database</a:t>
                      </a:r>
                    </a:p>
                  </a:txBody>
                  <a:tcPr anchor="ctr"/>
                </a:tc>
                <a:tc>
                  <a:txBody>
                    <a:bodyPr/>
                    <a:lstStyle/>
                    <a:p>
                      <a:r>
                        <a:rPr lang="en-US">
                          <a:latin typeface="Times New Roman" pitchFamily="18" charset="0"/>
                          <a:cs typeface="Times New Roman" pitchFamily="18" charset="0"/>
                        </a:rPr>
                        <a:t>JSON File Cache, File-lock (inventory_db.json)</a:t>
                      </a:r>
                    </a:p>
                  </a:txBody>
                  <a:tcPr anchor="ctr"/>
                </a:tc>
                <a:tc>
                  <a:txBody>
                    <a:bodyPr/>
                    <a:lstStyle/>
                    <a:p>
                      <a:r>
                        <a:rPr lang="en-US" dirty="0">
                          <a:latin typeface="Times New Roman" pitchFamily="18" charset="0"/>
                          <a:cs typeface="Times New Roman" pitchFamily="18" charset="0"/>
                        </a:rPr>
                        <a:t>Transaction storage, data persistence, seeding, read/write safety</a:t>
                      </a: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091" y="891834"/>
            <a:ext cx="8520600" cy="572700"/>
          </a:xfrm>
        </p:spPr>
        <p:txBody>
          <a:bodyPr>
            <a:normAutofit fontScale="90000"/>
          </a:bodyPr>
          <a:lstStyle/>
          <a:p>
            <a:pPr algn="ctr"/>
            <a:br>
              <a:rPr lang="en-IN" dirty="0">
                <a:solidFill>
                  <a:schemeClr val="accent1">
                    <a:lumMod val="75000"/>
                  </a:schemeClr>
                </a:solidFill>
                <a:latin typeface="Book Antiqua" panose="02040602050305030304" pitchFamily="18" charset="0"/>
                <a:cs typeface="Times New Roman" panose="02020603050405020304" pitchFamily="18" charset="0"/>
              </a:rPr>
            </a:br>
            <a:endParaRPr lang="en-US" dirty="0"/>
          </a:p>
        </p:txBody>
      </p:sp>
      <p:sp>
        <p:nvSpPr>
          <p:cNvPr id="8" name="Rectangle 7"/>
          <p:cNvSpPr/>
          <p:nvPr/>
        </p:nvSpPr>
        <p:spPr>
          <a:xfrm>
            <a:off x="2110105" y="489585"/>
            <a:ext cx="1241425" cy="497840"/>
          </a:xfrm>
          <a:prstGeom prst="rect">
            <a:avLst/>
          </a:prstGeom>
          <a:solidFill>
            <a:schemeClr val="bg1"/>
          </a:solidFill>
        </p:spPr>
        <p:style>
          <a:lnRef idx="0">
            <a:srgbClr val="FFFFFF"/>
          </a:lnRef>
          <a:fillRef idx="1">
            <a:schemeClr val="accent1"/>
          </a:fillRef>
          <a:effectRef idx="0">
            <a:srgbClr val="FFFFFF"/>
          </a:effectRef>
          <a:fontRef idx="minor">
            <a:schemeClr val="lt1"/>
          </a:fontRef>
        </p:style>
        <p:txBody>
          <a:bodyPr rtlCol="0" anchor="ctr"/>
          <a:lstStyle/>
          <a:p>
            <a:pPr algn="ctr"/>
            <a:endParaRPr lang="en-US"/>
          </a:p>
        </p:txBody>
      </p:sp>
      <p:sp>
        <p:nvSpPr>
          <p:cNvPr id="9" name="Rectangle 8"/>
          <p:cNvSpPr/>
          <p:nvPr/>
        </p:nvSpPr>
        <p:spPr>
          <a:xfrm>
            <a:off x="2658745" y="455930"/>
            <a:ext cx="1029970" cy="48958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375" y="329184"/>
            <a:ext cx="7715250" cy="46085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68969"/>
            <a:ext cx="8520600" cy="609600"/>
          </a:xfrm>
        </p:spPr>
        <p:txBody>
          <a:bodyPr>
            <a:normAutofit/>
          </a:bodyPr>
          <a:lstStyle/>
          <a:p>
            <a:pPr algn="ctr"/>
            <a:r>
              <a:rPr lang="en-US" dirty="0">
                <a:solidFill>
                  <a:schemeClr val="accent1">
                    <a:lumMod val="75000"/>
                  </a:schemeClr>
                </a:solidFill>
                <a:latin typeface="Book Antiqua" pitchFamily="18" charset="0"/>
              </a:rPr>
              <a:t>Key Results:</a:t>
            </a:r>
            <a:endParaRPr lang="en-IN" dirty="0">
              <a:solidFill>
                <a:schemeClr val="accent1">
                  <a:lumMod val="75000"/>
                </a:schemeClr>
              </a:solidFill>
              <a:latin typeface="Book Antiqua"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1705" y="1387642"/>
            <a:ext cx="3441031" cy="303997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975" y="1371600"/>
            <a:ext cx="4393972" cy="2959768"/>
          </a:xfrm>
          <a:prstGeom prst="rect">
            <a:avLst/>
          </a:prstGeom>
        </p:spPr>
      </p:pic>
    </p:spTree>
    <p:extLst>
      <p:ext uri="{BB962C8B-B14F-4D97-AF65-F5344CB8AC3E}">
        <p14:creationId xmlns:p14="http://schemas.microsoft.com/office/powerpoint/2010/main" val="225812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12</a:t>
            </a:fld>
            <a:endParaRPr lang="en-GB"/>
          </a:p>
        </p:txBody>
      </p:sp>
      <p:pic>
        <p:nvPicPr>
          <p:cNvPr id="4" name="Picture 3" descr="Screenshot 2026-07-29 at 2.25.56 PM.png"/>
          <p:cNvPicPr>
            <a:picLocks noChangeAspect="1"/>
          </p:cNvPicPr>
          <p:nvPr/>
        </p:nvPicPr>
        <p:blipFill>
          <a:blip r:embed="rId2"/>
          <a:stretch>
            <a:fillRect/>
          </a:stretch>
        </p:blipFill>
        <p:spPr>
          <a:xfrm>
            <a:off x="0" y="6350"/>
            <a:ext cx="9144000" cy="4493461"/>
          </a:xfrm>
          <a:prstGeom prst="rect">
            <a:avLst/>
          </a:prstGeom>
        </p:spPr>
      </p:pic>
      <p:pic>
        <p:nvPicPr>
          <p:cNvPr id="5" name="Picture 4" descr="Screenshot 2026-07-29 202320.png"/>
          <p:cNvPicPr>
            <a:picLocks noChangeAspect="1"/>
          </p:cNvPicPr>
          <p:nvPr/>
        </p:nvPicPr>
        <p:blipFill>
          <a:blip r:embed="rId3"/>
          <a:stretch>
            <a:fillRect/>
          </a:stretch>
        </p:blipFill>
        <p:spPr>
          <a:xfrm>
            <a:off x="0" y="4312770"/>
            <a:ext cx="9144000" cy="8307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13</a:t>
            </a:fld>
            <a:endParaRPr lang="en-GB"/>
          </a:p>
        </p:txBody>
      </p:sp>
      <p:pic>
        <p:nvPicPr>
          <p:cNvPr id="4" name="Picture 3" descr="Screenshot 2026-07-29 at 2.25.36 PM.png"/>
          <p:cNvPicPr>
            <a:picLocks noChangeAspect="1"/>
          </p:cNvPicPr>
          <p:nvPr/>
        </p:nvPicPr>
        <p:blipFill>
          <a:blip r:embed="rId2"/>
          <a:stretch>
            <a:fillRect/>
          </a:stretch>
        </p:blipFill>
        <p:spPr>
          <a:xfrm>
            <a:off x="0" y="6350"/>
            <a:ext cx="9143999" cy="4661903"/>
          </a:xfrm>
          <a:prstGeom prst="rect">
            <a:avLst/>
          </a:prstGeom>
        </p:spPr>
      </p:pic>
      <p:pic>
        <p:nvPicPr>
          <p:cNvPr id="5" name="Picture 4" descr="Screenshot 2026-07-29 202334.png"/>
          <p:cNvPicPr>
            <a:picLocks noChangeAspect="1"/>
          </p:cNvPicPr>
          <p:nvPr/>
        </p:nvPicPr>
        <p:blipFill>
          <a:blip r:embed="rId3"/>
          <a:stretch>
            <a:fillRect/>
          </a:stretch>
        </p:blipFill>
        <p:spPr>
          <a:xfrm>
            <a:off x="0" y="4291263"/>
            <a:ext cx="9143999" cy="8522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pPr algn="ctr"/>
            <a:r>
              <a:rPr lang="en-US" dirty="0">
                <a:solidFill>
                  <a:schemeClr val="accent1">
                    <a:lumMod val="75000"/>
                  </a:schemeClr>
                </a:solidFill>
                <a:latin typeface="Book Antiqua" pitchFamily="18" charset="0"/>
              </a:rPr>
              <a:t>Conclusion</a:t>
            </a:r>
          </a:p>
        </p:txBody>
      </p:sp>
      <p:sp>
        <p:nvSpPr>
          <p:cNvPr id="14" name="Text Placeholder 13"/>
          <p:cNvSpPr>
            <a:spLocks noGrp="1"/>
          </p:cNvSpPr>
          <p:nvPr>
            <p:ph type="body" idx="1"/>
          </p:nvPr>
        </p:nvSpPr>
        <p:spPr>
          <a:xfrm>
            <a:off x="311700" y="1152474"/>
            <a:ext cx="8520600" cy="3545031"/>
          </a:xfrm>
        </p:spPr>
        <p:txBody>
          <a:bodyPr>
            <a:normAutofit fontScale="97500"/>
          </a:bodyPr>
          <a:lstStyle/>
          <a:p>
            <a:pPr marL="114300" indent="0" algn="just">
              <a:buNone/>
            </a:pPr>
            <a:r>
              <a:rPr lang="en-US" altLang="en-US" sz="1600" dirty="0" err="1">
                <a:solidFill>
                  <a:schemeClr val="tx1"/>
                </a:solidFill>
                <a:latin typeface="Times New Roman" panose="02020603050405020304" pitchFamily="18" charset="0"/>
                <a:cs typeface="Times New Roman" panose="02020603050405020304" pitchFamily="18" charset="0"/>
              </a:rPr>
              <a:t>OmniOpt</a:t>
            </a:r>
            <a:r>
              <a:rPr lang="en-US" altLang="en-US" sz="1600" dirty="0">
                <a:solidFill>
                  <a:schemeClr val="tx1"/>
                </a:solidFill>
                <a:latin typeface="Times New Roman" panose="02020603050405020304" pitchFamily="18" charset="0"/>
                <a:cs typeface="Times New Roman" panose="02020603050405020304" pitchFamily="18" charset="0"/>
              </a:rPr>
              <a:t> AI successfully transforms traditional inventory management into an intelligent, AI-driven logistics platform by integrating Machine Learning, </a:t>
            </a:r>
            <a:r>
              <a:rPr lang="en-US" altLang="en-US" sz="1600" dirty="0" err="1">
                <a:solidFill>
                  <a:schemeClr val="tx1"/>
                </a:solidFill>
                <a:latin typeface="Times New Roman" panose="02020603050405020304" pitchFamily="18" charset="0"/>
                <a:cs typeface="Times New Roman" panose="02020603050405020304" pitchFamily="18" charset="0"/>
              </a:rPr>
              <a:t>FastAPI</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err="1">
                <a:solidFill>
                  <a:schemeClr val="tx1"/>
                </a:solidFill>
                <a:latin typeface="Times New Roman" panose="02020603050405020304" pitchFamily="18" charset="0"/>
                <a:cs typeface="Times New Roman" panose="02020603050405020304" pitchFamily="18" charset="0"/>
              </a:rPr>
              <a:t>WebSockets</a:t>
            </a:r>
            <a:r>
              <a:rPr lang="en-US" altLang="en-US" sz="1600" dirty="0">
                <a:solidFill>
                  <a:schemeClr val="tx1"/>
                </a:solidFill>
                <a:latin typeface="Times New Roman" panose="02020603050405020304" pitchFamily="18" charset="0"/>
                <a:cs typeface="Times New Roman" panose="02020603050405020304" pitchFamily="18" charset="0"/>
              </a:rPr>
              <a:t>, and real-time dashboards. The system enables accurate demand forecasting, efficient inventory optimization, and automated warehouse rebalancing to improve overall supply chain performance. It provides several benefits, including higher forecasting accuracy, reduced logistics costs, fewer </a:t>
            </a:r>
            <a:r>
              <a:rPr lang="en-US" altLang="en-US" sz="1600" dirty="0" err="1">
                <a:solidFill>
                  <a:schemeClr val="tx1"/>
                </a:solidFill>
                <a:latin typeface="Times New Roman" panose="02020603050405020304" pitchFamily="18" charset="0"/>
                <a:cs typeface="Times New Roman" panose="02020603050405020304" pitchFamily="18" charset="0"/>
              </a:rPr>
              <a:t>stockouts</a:t>
            </a:r>
            <a:r>
              <a:rPr lang="en-US" altLang="en-US" sz="1600" dirty="0">
                <a:solidFill>
                  <a:schemeClr val="tx1"/>
                </a:solidFill>
                <a:latin typeface="Times New Roman" panose="02020603050405020304" pitchFamily="18" charset="0"/>
                <a:cs typeface="Times New Roman" panose="02020603050405020304" pitchFamily="18" charset="0"/>
              </a:rPr>
              <a:t>, real-time monitoring, and improved operational efficiency. With a scalable and reliable architecture, the proposed system offers a practical and effective solution for modern e-commerce supply chain management.</a:t>
            </a:r>
          </a:p>
        </p:txBody>
      </p:sp>
    </p:spTree>
    <p:extLst>
      <p:ext uri="{BB962C8B-B14F-4D97-AF65-F5344CB8AC3E}">
        <p14:creationId xmlns:p14="http://schemas.microsoft.com/office/powerpoint/2010/main" val="20282393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1009</Words>
  <Application>Microsoft Macintosh PowerPoint</Application>
  <PresentationFormat>On-screen Show (16:9)</PresentationFormat>
  <Paragraphs>122</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Book Antiqua</vt:lpstr>
      <vt:lpstr>Times New Roman</vt:lpstr>
      <vt:lpstr>Simple Light</vt:lpstr>
      <vt:lpstr>PowerPoint Presentation</vt:lpstr>
      <vt:lpstr>Introduction </vt:lpstr>
      <vt:lpstr>Problem Statement </vt:lpstr>
      <vt:lpstr>Existing System &amp; Key Limitations</vt:lpstr>
      <vt:lpstr>Proposed Solution </vt:lpstr>
      <vt:lpstr>Research Gap </vt:lpstr>
      <vt:lpstr>Project Objectives with Outcomes</vt:lpstr>
      <vt:lpstr>System Modules &amp; Team Responsibilities</vt:lpstr>
      <vt:lpstr>Technologies</vt:lpstr>
      <vt:lpstr> </vt:lpstr>
      <vt:lpstr>Key Results:</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Doctoral Committee Meeting Department Of Civil Engineering</dc:title>
  <dc:creator>ELCOT</dc:creator>
  <cp:lastModifiedBy>Akash Manoharan</cp:lastModifiedBy>
  <cp:revision>204</cp:revision>
  <dcterms:created xsi:type="dcterms:W3CDTF">2026-07-19T04:32:17Z</dcterms:created>
  <dcterms:modified xsi:type="dcterms:W3CDTF">2026-07-29T15:44:13Z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BF4AE1F45A824BAABABE6FB60B9777A4_13</vt:lpwstr>
  </property>
</Properties>
</file>