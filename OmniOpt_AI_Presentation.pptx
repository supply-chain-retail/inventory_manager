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137160" cy="2926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920240"/>
            <a:ext cx="100584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400" b="1">
                <a:solidFill>
                  <a:srgbClr val="0F172A"/>
                </a:solidFill>
                <a:latin typeface="Georgia"/>
              </a:defRPr>
            </a:pPr>
            <a:r>
              <a:t>OmniOpt AI</a:t>
            </a:r>
          </a:p>
          <a:p>
            <a:pPr>
              <a:spcBef>
                <a:spcPts val="1000"/>
              </a:spcBef>
              <a:defRPr sz="2200">
                <a:solidFill>
                  <a:srgbClr val="0D9488"/>
                </a:solidFill>
                <a:latin typeface="Arial"/>
              </a:defRPr>
            </a:pPr>
            <a:r>
              <a:t>Predictive Logistics &amp; Fulfillment Rebalancing Platform</a:t>
            </a:r>
          </a:p>
          <a:p>
            <a:pPr>
              <a:spcBef>
                <a:spcPts val="50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Academic Project Presentation &amp; Operational Framework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MARKET PAIN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Georgia"/>
              </a:defRPr>
            </a:pPr>
            <a:r>
              <a:t>The Supply Chain &amp; Logistics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242316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24231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D9488"/>
                </a:solidFill>
                <a:latin typeface="Arial"/>
              </a:defRPr>
            </a:pPr>
            <a:r>
              <a:t>01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1">
                <a:solidFill>
                  <a:srgbClr val="0F172A"/>
                </a:solidFill>
                <a:latin typeface="Arial"/>
              </a:defRPr>
            </a:pPr>
            <a:r>
              <a:t>Stockout vs Overstock</a:t>
            </a:r>
          </a:p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Imbalances lead to lost sales or high storage costs. Manual restocks are slow, lagging, and error-prone.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2011680"/>
            <a:ext cx="242316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2194560"/>
            <a:ext cx="24231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D9488"/>
                </a:solidFill>
                <a:latin typeface="Arial"/>
              </a:defRPr>
            </a:pPr>
            <a:r>
              <a:t>02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1">
                <a:solidFill>
                  <a:srgbClr val="0F172A"/>
                </a:solidFill>
                <a:latin typeface="Arial"/>
              </a:defRPr>
            </a:pPr>
            <a:r>
              <a:t>Static Reordering</a:t>
            </a:r>
          </a:p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Traditional inventory management uses static reorder points that fail to adapt to modern fast-paced sales velocity.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011680"/>
            <a:ext cx="242316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94560"/>
            <a:ext cx="24231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D9488"/>
                </a:solidFill>
                <a:latin typeface="Arial"/>
              </a:defRPr>
            </a:pPr>
            <a:r>
              <a:t>03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1">
                <a:solidFill>
                  <a:srgbClr val="0F172A"/>
                </a:solidFill>
                <a:latin typeface="Arial"/>
              </a:defRPr>
            </a:pPr>
            <a:r>
              <a:t>Environmental Factors</a:t>
            </a:r>
          </a:p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Weather shifts (storms, monsoon rain, heatwaves) drastically shift buyer demand profiles overnight without warning.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2011680"/>
            <a:ext cx="242316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2194560"/>
            <a:ext cx="24231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D9488"/>
                </a:solidFill>
                <a:latin typeface="Arial"/>
              </a:defRPr>
            </a:pPr>
            <a:r>
              <a:t>04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1">
                <a:solidFill>
                  <a:srgbClr val="0F172A"/>
                </a:solidFill>
                <a:latin typeface="Arial"/>
              </a:defRPr>
            </a:pPr>
            <a:r>
              <a:t>Fulfillment Friction</a:t>
            </a:r>
          </a:p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Inefficient inter-hub shipping routes and delayed factory restock coordination degrade delivery speeds.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WORKFLOW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Georgia"/>
              </a:defRPr>
            </a:pPr>
            <a:r>
              <a:t>System Architecture &amp; Dynamic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926080"/>
            <a:ext cx="100584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2852928"/>
            <a:ext cx="164592" cy="16459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24688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Arial"/>
              </a:defRPr>
            </a:pPr>
            <a:r>
              <a:t>STEP 01</a:t>
            </a:r>
          </a:p>
          <a:p>
            <a:pPr>
              <a:spcBef>
                <a:spcPts val="3200"/>
              </a:spcBef>
            </a:pPr>
          </a:p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1. Live Sales Feed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200" b="1">
                <a:solidFill>
                  <a:srgbClr val="0D9488"/>
                </a:solidFill>
                <a:latin typeface="Arial"/>
              </a:defRPr>
            </a:pPr>
            <a:r>
              <a:t>WebSockets Simulator</a:t>
            </a:r>
          </a:p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Streams real-time sales from Amazon, Flipkart, Meesho, and Myntra platforms every 3 seconds.</a:t>
            </a:r>
          </a:p>
        </p:txBody>
      </p:sp>
      <p:sp>
        <p:nvSpPr>
          <p:cNvPr id="7" name="Oval 6"/>
          <p:cNvSpPr/>
          <p:nvPr/>
        </p:nvSpPr>
        <p:spPr>
          <a:xfrm>
            <a:off x="3474720" y="2852928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2194560"/>
            <a:ext cx="24688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Arial"/>
              </a:defRPr>
            </a:pPr>
            <a:r>
              <a:t>STEP 02</a:t>
            </a:r>
          </a:p>
          <a:p>
            <a:pPr>
              <a:spcBef>
                <a:spcPts val="3200"/>
              </a:spcBef>
            </a:pPr>
          </a:p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2. Predictive Brain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200" b="1">
                <a:solidFill>
                  <a:srgbClr val="0D9488"/>
                </a:solidFill>
                <a:latin typeface="Arial"/>
              </a:defRPr>
            </a:pPr>
            <a:r>
              <a:t>Dynamic ML Candidate</a:t>
            </a:r>
          </a:p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Forecasts regional demand utilizing scikit-learn tree models (RF, HistGradientBoosting) dynamically.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2852928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194560"/>
            <a:ext cx="24688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Arial"/>
              </a:defRPr>
            </a:pPr>
            <a:r>
              <a:t>STEP 03</a:t>
            </a:r>
          </a:p>
          <a:p>
            <a:pPr>
              <a:spcBef>
                <a:spcPts val="3200"/>
              </a:spcBef>
            </a:pPr>
          </a:p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3. Decision Engine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200" b="1">
                <a:solidFill>
                  <a:srgbClr val="0D9488"/>
                </a:solidFill>
                <a:latin typeface="Arial"/>
              </a:defRPr>
            </a:pPr>
            <a:r>
              <a:t>Inventory Logic</a:t>
            </a:r>
          </a:p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Auto-detects stockouts; triggers inter-hub rebalancing or requests direct factory orders.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0" y="2852928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2194560"/>
            <a:ext cx="24688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Arial"/>
              </a:defRPr>
            </a:pPr>
            <a:r>
              <a:t>STEP 04</a:t>
            </a:r>
          </a:p>
          <a:p>
            <a:pPr>
              <a:spcBef>
                <a:spcPts val="3200"/>
              </a:spcBef>
            </a:pPr>
          </a:p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4. Fulfillment Map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200" b="1">
                <a:solidFill>
                  <a:srgbClr val="0D9488"/>
                </a:solidFill>
                <a:latin typeface="Arial"/>
              </a:defRPr>
            </a:pPr>
            <a:r>
              <a:t>Routing Engine</a:t>
            </a:r>
          </a:p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Visualizes coordinates, active transit routes, and restock countdown arrivals via Leaflet.js.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DATA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Georgia"/>
              </a:defRPr>
            </a:pPr>
            <a:r>
              <a:t>Data Ingestion &amp; Advanced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4F46E5"/>
                </a:solidFill>
                <a:latin typeface="Georgia"/>
              </a:defRPr>
            </a:pPr>
            <a:r>
              <a:t>Ensuring Data Quality &amp; Leakage Prevention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1400">
                <a:solidFill>
                  <a:srgbClr val="475569"/>
                </a:solidFill>
                <a:latin typeface="Arial"/>
              </a:defRPr>
            </a:pPr>
            <a:r>
              <a:t>Raw transaction data is noisy and prone to temporal leakage. The data pipeline cleans the stream at its source and extracts descriptive signals:</a:t>
            </a:r>
          </a:p>
          <a:p>
            <a:pPr>
              <a:spcBef>
                <a:spcPts val="600"/>
              </a:spcBef>
              <a:defRPr sz="14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0F172A"/>
                </a:solidFill>
              </a:rPr>
              <a:t>Outlier Exclusion:</a:t>
            </a:r>
            <a:r>
              <a:rPr>
                <a:solidFill>
                  <a:srgbClr val="475569"/>
                </a:solidFill>
              </a:rPr>
              <a:t> Removes 2025 setup mock data that contains skewed distributions, preserving only clean records from 2026.</a:t>
            </a:r>
          </a:p>
          <a:p>
            <a:pPr>
              <a:spcBef>
                <a:spcPts val="600"/>
              </a:spcBef>
              <a:defRPr sz="14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0F172A"/>
                </a:solidFill>
              </a:rPr>
              <a:t>Log Filtering:</a:t>
            </a:r>
            <a:r>
              <a:rPr>
                <a:solidFill>
                  <a:srgbClr val="475569"/>
                </a:solidFill>
              </a:rPr>
              <a:t> Ignores automated transfer logs (`Store_ID` starting with `AI-AUTO`) during model training to avoid target drift.</a:t>
            </a:r>
          </a:p>
          <a:p>
            <a:pPr>
              <a:spcBef>
                <a:spcPts val="600"/>
              </a:spcBef>
              <a:defRPr sz="14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0F172A"/>
                </a:solidFill>
              </a:rPr>
              <a:t>Temporal Seasonality:</a:t>
            </a:r>
            <a:r>
              <a:rPr>
                <a:solidFill>
                  <a:srgbClr val="475569"/>
                </a:solidFill>
              </a:rPr>
              <a:t> Extracts `Month`, `DayOfWeek` (weekend spikes), and `DayOfMonth` (payday buying habits) dynamically.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828800"/>
            <a:ext cx="512064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103120"/>
            <a:ext cx="457200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D9488"/>
                </a:solidFill>
                <a:latin typeface="Arial"/>
              </a:defRPr>
            </a:pPr>
            <a:r>
              <a:t>Preventing Data Leakage: Category-Region Mean</a:t>
            </a:r>
          </a:p>
          <a:p>
            <a:pPr>
              <a:spcAft>
                <a:spcPts val="14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To represent historical category sales levels for each geographical region without looking ahead into the target, we implement a shifted expanding mean:</a:t>
            </a:r>
          </a:p>
          <a:p>
            <a:pPr>
              <a:spcAft>
                <a:spcPts val="1400"/>
              </a:spcAft>
              <a:defRPr sz="1100">
                <a:solidFill>
                  <a:srgbClr val="4F46E5"/>
                </a:solidFill>
                <a:latin typeface="Consolas"/>
              </a:defRPr>
            </a:pPr>
            <a:r>
              <a:t>df['Category_Region_Mean'] = df.groupby(['Category', 'Region'])['Units_Sold']</a:t>
            </a:r>
            <a:br/>
            <a:r>
              <a:t>  .transform(lambda x: x.expanding().mean().shift(1))</a:t>
            </a:r>
            <a:br/>
            <a:r>
              <a:t>  .fillna(df['Units_Sold'].mean())</a:t>
            </a:r>
          </a:p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This feature provides the regressors with a stable historical baseline while maintaining complete mathematical separation between training and test sets.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MACHINE LEARNING BRAIN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Georgia"/>
              </a:defRPr>
            </a:pPr>
            <a:r>
              <a:t>Intelligent Demand Forecasting Regressors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4F46E5"/>
                </a:solidFill>
                <a:latin typeface="Georgia"/>
              </a:defRPr>
            </a:pPr>
            <a:r>
              <a:t>Compared Regressor Candidates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1400">
                <a:solidFill>
                  <a:srgbClr val="475569"/>
                </a:solidFill>
                <a:latin typeface="Arial"/>
              </a:defRPr>
            </a:pPr>
            <a:r>
              <a:t>The machine learning subsystem supports five distinct regressors built using scikit-learn APIs: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0F172A"/>
                </a:solidFill>
              </a:rPr>
              <a:t>OLS Linear Regression:</a:t>
            </a:r>
            <a:r>
              <a:rPr>
                <a:solidFill>
                  <a:srgbClr val="475569"/>
                </a:solidFill>
              </a:rPr>
              <a:t> Simple baseline, assuming additive relationships. Struggles with region-category interactions.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0F172A"/>
                </a:solidFill>
              </a:rPr>
              <a:t>Decision Tree Regressor:</a:t>
            </a:r>
            <a:r>
              <a:rPr>
                <a:solidFill>
                  <a:srgbClr val="475569"/>
                </a:solidFill>
              </a:rPr>
              <a:t> Captures recursive multi-feature splits but overfits easily under noisy simulated streams.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0F172A"/>
                </a:solidFill>
              </a:rPr>
              <a:t>Random Forest Regressor:</a:t>
            </a:r>
            <a:r>
              <a:rPr>
                <a:solidFill>
                  <a:srgbClr val="475569"/>
                </a:solidFill>
              </a:rPr>
              <a:t> Bagging ensemble averaging 40 trees, reducing variance and smoothing outlier noise.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0F172A"/>
                </a:solidFill>
              </a:rPr>
              <a:t>HistGradientBoosting:</a:t>
            </a:r>
            <a:r>
              <a:rPr>
                <a:solidFill>
                  <a:srgbClr val="475569"/>
                </a:solidFill>
              </a:rPr>
              <a:t> Sequential gradient boosting. Bins continuous values into 256 histograms to boost training speeds (&lt;0.1s).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2103120"/>
            <a:ext cx="44805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475569"/>
                </a:solidFill>
                <a:latin typeface="Arial"/>
              </a:defRPr>
            </a:pPr>
            <a:r>
              <a:t>HYBRID ENSEMBLE R² LIMIT</a:t>
            </a:r>
          </a:p>
          <a:p>
            <a:pPr algn="ctr">
              <a:spcBef>
                <a:spcPts val="0"/>
              </a:spcBef>
              <a:defRPr sz="8000" b="1">
                <a:solidFill>
                  <a:srgbClr val="0D9488"/>
                </a:solidFill>
                <a:latin typeface="Georgia"/>
              </a:defRPr>
            </a:pPr>
            <a:r>
              <a:t>0.9315</a:t>
            </a:r>
          </a:p>
          <a:p>
            <a:pPr algn="ctr">
              <a:spcBef>
                <a:spcPts val="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93.15% Explained Variance on Baseline Test Set</a:t>
            </a:r>
          </a:p>
          <a:p>
            <a:pPr algn="ctr">
              <a:spcBef>
                <a:spcPts val="2000"/>
              </a:spcBef>
              <a:defRPr sz="1200">
                <a:solidFill>
                  <a:srgbClr val="475569"/>
                </a:solidFill>
                <a:latin typeface="Arial"/>
              </a:defRPr>
            </a:pPr>
            <a:r>
              <a:t>The hybrid voting regressor model blends gradient boosting predictions (60% weight) with random forest bagging (40% weight) to suppress bias and overfitting.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MODEL CHECKING &amp;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Georgia"/>
              </a:defRPr>
            </a:pPr>
            <a:r>
              <a:t>Dynamic Algorithm Validation Checking &amp;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4F46E5"/>
                </a:solidFill>
                <a:latin typeface="Georgia"/>
              </a:defRPr>
            </a:pPr>
            <a:r>
              <a:t>How the Selection Loop Operates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1400">
                <a:solidFill>
                  <a:srgbClr val="475569"/>
                </a:solidFill>
                <a:latin typeface="Arial"/>
              </a:defRPr>
            </a:pPr>
            <a:r>
              <a:t>Instead of hardcoding a single estimator, the backend executes an automated Model Checking and Selection algorithm during every retrain event:</a:t>
            </a:r>
          </a:p>
          <a:p>
            <a:pPr>
              <a:spcBef>
                <a:spcPts val="4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0F172A"/>
                </a:solidFill>
              </a:rPr>
              <a:t>1. Data Sufficiency Check:</a:t>
            </a:r>
            <a:r>
              <a:rPr>
                <a:solidFill>
                  <a:srgbClr val="475569"/>
                </a:solidFill>
              </a:rPr>
              <a:t> Validates that the active database holds at least 15 valid records; halts training with warning state if insufficient.</a:t>
            </a:r>
          </a:p>
          <a:p>
            <a:pPr>
              <a:spcBef>
                <a:spcPts val="4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0F172A"/>
                </a:solidFill>
              </a:rPr>
              <a:t>2. Temporal Validation Split:</a:t>
            </a:r>
            <a:r>
              <a:rPr>
                <a:solidFill>
                  <a:srgbClr val="475569"/>
                </a:solidFill>
              </a:rPr>
              <a:t> Splits dataset chronologically (80% train, 20% validation) to ensure validation conditions emulate real forecasting tasks.</a:t>
            </a:r>
          </a:p>
          <a:p>
            <a:pPr>
              <a:spcBef>
                <a:spcPts val="4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0F172A"/>
                </a:solidFill>
              </a:rPr>
              <a:t>3. Candidate Benchmarking:</a:t>
            </a:r>
            <a:r>
              <a:rPr>
                <a:solidFill>
                  <a:srgbClr val="475569"/>
                </a:solidFill>
              </a:rPr>
              <a:t> Trains all five candidate pipelines (OLS, DT, RF, Boosting, Ensemble) on training set and records their validation metrics.</a:t>
            </a:r>
          </a:p>
          <a:p>
            <a:pPr>
              <a:spcBef>
                <a:spcPts val="4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0F172A"/>
                </a:solidFill>
              </a:rPr>
              <a:t>4. Automated Promotion:</a:t>
            </a:r>
            <a:r>
              <a:rPr>
                <a:solidFill>
                  <a:srgbClr val="475569"/>
                </a:solidFill>
              </a:rPr>
              <a:t> Compares R² scores. Selects the highest performing model, fits it on the full cleaned dataset, and sets it as active forecast engine.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828800"/>
            <a:ext cx="512064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2011680"/>
            <a:ext cx="47548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D9488"/>
                </a:solidFill>
                <a:latin typeface="Arial"/>
              </a:defRPr>
            </a:pPr>
            <a:r>
              <a:t>Dynamic Selection Logic (FastAPI Backend)</a:t>
            </a:r>
          </a:p>
          <a:p>
            <a:pPr>
              <a:spcAft>
                <a:spcPts val="1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candidates = {</a:t>
            </a:r>
            <a:br/>
            <a:r>
              <a:t>    'OLS Linear Regression': lr,</a:t>
            </a:r>
            <a:br/>
            <a:r>
              <a:t>    'Decision Tree Regressor': dt,</a:t>
            </a:r>
            <a:br/>
            <a:r>
              <a:t>    'Random Forest Regressor': rf,</a:t>
            </a:r>
            <a:br/>
            <a:r>
              <a:t>    'Boosting Regressor': boosting,</a:t>
            </a:r>
            <a:br/>
            <a:r>
              <a:t>    'Hybrid Ensemble': ensemble</a:t>
            </a:r>
            <a:br/>
            <a:r>
              <a:t>}</a:t>
            </a:r>
            <a:br/>
            <a:r>
              <a:t>for name, regressor in candidates.items():</a:t>
            </a:r>
            <a:br/>
            <a:r>
              <a:t>    pipe = Pipeline([('prep', prep), ('reg', regressor)])</a:t>
            </a:r>
            <a:br/>
            <a:r>
              <a:t>    pipe.fit(X_train, y_train)</a:t>
            </a:r>
            <a:br/>
            <a:r>
              <a:t>    preds = pipe.predict(X_test)</a:t>
            </a:r>
            <a:br/>
            <a:r>
              <a:t>    cand_r2 = r2_score(y_test, preds)</a:t>
            </a:r>
            <a:br/>
            <a:r>
              <a:t>    if cand_r2 &gt; best_r2:</a:t>
            </a:r>
            <a:br/>
            <a:r>
              <a:t>        best_r2 = cand_r2</a:t>
            </a:r>
            <a:br/>
            <a:r>
              <a:t>        best_name = name</a:t>
            </a:r>
            <a:br/>
            <a:r>
              <a:t>        best_model_regressor = regressor</a:t>
            </a:r>
            <a:br/>
            <a:r>
              <a:t>best_pipeline = Pipeline([('prep', prep), ('reg', best_model_regressor)])</a:t>
            </a:r>
          </a:p>
          <a:p>
            <a:pPr>
              <a:defRPr sz="1200">
                <a:solidFill>
                  <a:srgbClr val="475569"/>
                </a:solidFill>
                <a:latin typeface="Arial"/>
              </a:defRPr>
            </a:pPr>
            <a:r>
              <a:t>By checking model performance dynamically, the system handles data drift automatically if weather anomalies or sales trends skew estimators.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CLIMATE TELEMETRY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Georgia"/>
              </a:defRPr>
            </a:pPr>
            <a:r>
              <a:t>Weather-Driven Dynamic Safety Stock Multipliers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4F46E5"/>
                </a:solidFill>
                <a:latin typeface="Georgia"/>
              </a:defRPr>
            </a:pPr>
            <a:r>
              <a:t>Open-Meteo API Real-time Climate Telemetry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1400">
                <a:solidFill>
                  <a:srgbClr val="475569"/>
                </a:solidFill>
                <a:latin typeface="Arial"/>
              </a:defRPr>
            </a:pPr>
            <a:r>
              <a:t>OmniOpt AI integrates real-time climate telemetry directly into forecasting, adjusting safety stock margins on-the-fly based on atmospheric conditions.</a:t>
            </a:r>
          </a:p>
          <a:p>
            <a:pPr>
              <a:spcBef>
                <a:spcPts val="600"/>
              </a:spcBef>
              <a:defRPr sz="14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0F172A"/>
                </a:solidFill>
              </a:rPr>
              <a:t>Rainfall Multiplier (1.25x):</a:t>
            </a:r>
            <a:r>
              <a:rPr>
                <a:solidFill>
                  <a:srgbClr val="475569"/>
                </a:solidFill>
              </a:rPr>
              <a:t> Increases safety buffers for waterproof gear, umbrellas, and select home-delivery goods during precipitation events.</a:t>
            </a:r>
          </a:p>
          <a:p>
            <a:pPr>
              <a:spcBef>
                <a:spcPts val="600"/>
              </a:spcBef>
              <a:defRPr sz="14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0F172A"/>
                </a:solidFill>
              </a:rPr>
              <a:t>Temperature Multiplier (1.30x):</a:t>
            </a:r>
            <a:r>
              <a:rPr>
                <a:solidFill>
                  <a:srgbClr val="475569"/>
                </a:solidFill>
              </a:rPr>
              <a:t> Extreme summer heatwaves trigger automatic 1.30x scaling for grocery, beverage, and cooling products.</a:t>
            </a:r>
          </a:p>
          <a:p>
            <a:pPr>
              <a:spcBef>
                <a:spcPts val="600"/>
              </a:spcBef>
              <a:defRPr sz="14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0F172A"/>
                </a:solidFill>
              </a:rPr>
              <a:t>Risk Mitigation:</a:t>
            </a:r>
            <a:r>
              <a:rPr>
                <a:solidFill>
                  <a:srgbClr val="475569"/>
                </a:solidFill>
              </a:rPr>
              <a:t> System automatically locks in higher safety stock during storms/extreme weather events to protect against road delays.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828800"/>
            <a:ext cx="45720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201168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Rain / Storms Alert  |  </a:t>
            </a:r>
            <a:r>
              <a:rPr b="1">
                <a:solidFill>
                  <a:srgbClr val="0D9488"/>
                </a:solidFill>
              </a:rPr>
              <a:t>1.25x Buffer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  <a:latin typeface="Arial"/>
              </a:defRPr>
            </a:pPr>
            <a:r>
              <a:t>Waterproof Clothing &amp; Delivery Logistics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3200400"/>
            <a:ext cx="45720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338328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Extreme Heatwaves  |  </a:t>
            </a:r>
            <a:r>
              <a:rPr b="1">
                <a:solidFill>
                  <a:srgbClr val="0D9488"/>
                </a:solidFill>
              </a:rPr>
              <a:t>1.30x Buffer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  <a:latin typeface="Arial"/>
              </a:defRPr>
            </a:pPr>
            <a:r>
              <a:t>Groceries, Fresh Foods &amp; Cold Beverages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4572000"/>
            <a:ext cx="45720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475488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Default Climate Profile  |  </a:t>
            </a:r>
            <a:r>
              <a:rPr b="1">
                <a:solidFill>
                  <a:srgbClr val="0D9488"/>
                </a:solidFill>
              </a:rPr>
              <a:t>1.00x Buffer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  <a:latin typeface="Arial"/>
              </a:defRPr>
            </a:pPr>
            <a:r>
              <a:t>Baseline Demand Seasonality Calibration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REPLENISHMENT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Georgia"/>
              </a:defRPr>
            </a:pPr>
            <a:r>
              <a:t>Automated Rebalancing &amp; Factory restocks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spcAft>
                <a:spcPts val="1400"/>
              </a:spcAft>
              <a:defRPr sz="2000" b="1">
                <a:solidFill>
                  <a:srgbClr val="0D9488"/>
                </a:solidFill>
                <a:latin typeface="Arial"/>
              </a:defRPr>
            </a:pPr>
            <a:r>
              <a:t>🔄 Inter-Hub Rebalancing</a:t>
            </a:r>
          </a:p>
          <a:p>
            <a:pPr>
              <a:spcBef>
                <a:spcPts val="800"/>
              </a:spcBef>
              <a:defRPr sz="14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/>
              <a:t>Deficit Autodetection:</a:t>
            </a:r>
            <a:r>
              <a:rPr>
                <a:solidFill>
                  <a:srgbClr val="475569"/>
                </a:solidFill>
              </a:rPr>
              <a:t> Identifies stock deficits at any hub automatically by comparing stock levels to predictive forecast demand.</a:t>
            </a:r>
          </a:p>
          <a:p>
            <a:pPr>
              <a:spcBef>
                <a:spcPts val="800"/>
              </a:spcBef>
              <a:defRPr sz="14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/>
              <a:t>Surplus Neighborhood Scans:</a:t>
            </a:r>
            <a:r>
              <a:rPr>
                <a:solidFill>
                  <a:srgbClr val="475569"/>
                </a:solidFill>
              </a:rPr>
              <a:t> Scans geographic regions for nearby hubs holding excess stock buffers.</a:t>
            </a:r>
          </a:p>
          <a:p>
            <a:pPr>
              <a:spcBef>
                <a:spcPts val="800"/>
              </a:spcBef>
              <a:defRPr sz="14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/>
              <a:t>Direct Inter-Hub Transfers:</a:t>
            </a:r>
            <a:r>
              <a:rPr>
                <a:solidFill>
                  <a:srgbClr val="475569"/>
                </a:solidFill>
              </a:rPr>
              <a:t> Initiates direct transfers (e.g. North Hub to West Hub) instantly to balance inventory levels.</a:t>
            </a:r>
          </a:p>
          <a:p>
            <a:pPr>
              <a:spcBef>
                <a:spcPts val="800"/>
              </a:spcBef>
              <a:defRPr sz="14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/>
              <a:t>Cost Minimization:</a:t>
            </a:r>
            <a:r>
              <a:rPr>
                <a:solidFill>
                  <a:srgbClr val="475569"/>
                </a:solidFill>
              </a:rPr>
              <a:t> Avoids redundant warehousing and holding costs while minimizing overall logistics transit times.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493776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182880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spcAft>
                <a:spcPts val="1400"/>
              </a:spcAft>
              <a:defRPr sz="2000" b="1">
                <a:solidFill>
                  <a:srgbClr val="4F46E5"/>
                </a:solidFill>
                <a:latin typeface="Arial"/>
              </a:defRPr>
            </a:pPr>
            <a:r>
              <a:t>🏭 Direct Factory Restocking</a:t>
            </a:r>
          </a:p>
          <a:p>
            <a:pPr>
              <a:spcBef>
                <a:spcPts val="800"/>
              </a:spcBef>
              <a:defRPr sz="14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/>
              <a:t>Surplus Fallback Trigger:</a:t>
            </a:r>
            <a:r>
              <a:rPr>
                <a:solidFill>
                  <a:srgbClr val="475569"/>
                </a:solidFill>
              </a:rPr>
              <a:t> Automatically triggers a factory order when no neighboring hubs have sufficient surplus stock.</a:t>
            </a:r>
          </a:p>
          <a:p>
            <a:pPr>
              <a:spcBef>
                <a:spcPts val="800"/>
              </a:spcBef>
              <a:defRPr sz="14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/>
              <a:t>Automated Order Generation:</a:t>
            </a:r>
            <a:r>
              <a:rPr>
                <a:solidFill>
                  <a:srgbClr val="475569"/>
                </a:solidFill>
              </a:rPr>
              <a:t> Instantly builds and sends a digital factory restock requisition to minimize delays.</a:t>
            </a:r>
          </a:p>
          <a:p>
            <a:pPr>
              <a:spcBef>
                <a:spcPts val="800"/>
              </a:spcBef>
              <a:defRPr sz="14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/>
              <a:t>Real-time Countdown:</a:t>
            </a:r>
            <a:r>
              <a:rPr>
                <a:solidFill>
                  <a:srgbClr val="475569"/>
                </a:solidFill>
              </a:rPr>
              <a:t> Renders a live delivery countdown timer on the staff dashboard interface.</a:t>
            </a:r>
          </a:p>
          <a:p>
            <a:pPr>
              <a:spcBef>
                <a:spcPts val="800"/>
              </a:spcBef>
              <a:defRPr sz="14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/>
              <a:t>Strict Update Locks:</a:t>
            </a:r>
            <a:r>
              <a:rPr>
                <a:solidFill>
                  <a:srgbClr val="475569"/>
                </a:solidFill>
              </a:rPr>
              <a:t> Updates physical inventory tables only when the countdown reaches zero to maintain record integrity.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828800"/>
            <a:ext cx="493776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CONTROL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Georgia"/>
              </a:defRPr>
            </a:pPr>
            <a:r>
              <a:t>Operational Staff Dashboard Guide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12064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572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🗺️ Geographic Route Engine</a:t>
            </a:r>
          </a:p>
          <a:p>
            <a:pPr>
              <a:defRPr sz="1200">
                <a:solidFill>
                  <a:srgbClr val="475569"/>
                </a:solidFill>
                <a:latin typeface="Arial"/>
              </a:defRPr>
            </a:pPr>
            <a:r>
              <a:t>Interactive Leaflet.js map. Shows fulfillment hubs (North, South, East, West) and displays route geometry overlay during active stock dispatches.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12064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572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📊 Real-Time Forecasting Grid</a:t>
            </a:r>
          </a:p>
          <a:p>
            <a:pPr>
              <a:defRPr sz="1200">
                <a:solidFill>
                  <a:srgbClr val="475569"/>
                </a:solidFill>
                <a:latin typeface="Arial"/>
              </a:defRPr>
            </a:pPr>
            <a:r>
              <a:t>Displays tomorrow's projected demand against current inventory. Highlights under-stocked categories in bright warning orange.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023360"/>
            <a:ext cx="512064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4572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🔔 Active Transit Panel</a:t>
            </a:r>
          </a:p>
          <a:p>
            <a:pPr>
              <a:defRPr sz="1200">
                <a:solidFill>
                  <a:srgbClr val="475569"/>
                </a:solidFill>
                <a:latin typeface="Arial"/>
              </a:defRPr>
            </a:pPr>
            <a:r>
              <a:t>Tracks inbound restocks and transfers. Real-time countdown clock ticks down. Prevents staff from double-ordering identical stock items.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4023360"/>
            <a:ext cx="512064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206240"/>
            <a:ext cx="4572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📈 Live E-Commerce Simulator</a:t>
            </a:r>
          </a:p>
          <a:p>
            <a:pPr>
              <a:defRPr sz="1200">
                <a:solidFill>
                  <a:srgbClr val="475569"/>
                </a:solidFill>
                <a:latin typeface="Arial"/>
              </a:defRPr>
            </a:pPr>
            <a:r>
              <a:t>Simulates continuous online purchases (Amazon, Flipkart, etc.) decrementing physical inventory. Retrains ML engine instantly.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DEPLOYMENT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Georgia"/>
              </a:defRPr>
            </a:pPr>
            <a:r>
              <a:t>Platform Architecture &amp; Deployments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329184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2918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  <a:latin typeface="Arial"/>
              </a:defRPr>
            </a:pPr>
            <a:r>
              <a:t>Frontend Client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/>
              <a:t>Tech Stack:</a:t>
            </a:r>
            <a:r>
              <a:rPr>
                <a:solidFill>
                  <a:srgbClr val="475569"/>
                </a:solidFill>
              </a:rPr>
              <a:t> HTML5, CSS3, Chart.js, Leaflet.js geocoding map.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/>
              <a:t>Production:</a:t>
            </a:r>
            <a:r>
              <a:rPr>
                <a:solidFill>
                  <a:srgbClr val="475569"/>
                </a:solidFill>
              </a:rPr>
              <a:t> Hosted statically on GitHub Pages for rapid load speeds.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/>
              <a:t>Fallback:</a:t>
            </a:r>
            <a:r>
              <a:rPr>
                <a:solidFill>
                  <a:srgbClr val="475569"/>
                </a:solidFill>
              </a:rPr>
              <a:t> Connects to local JSON data model dynamically if backend API drops.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2011680"/>
            <a:ext cx="329184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2194560"/>
            <a:ext cx="32918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  <a:latin typeface="Arial"/>
              </a:defRPr>
            </a:pPr>
            <a:r>
              <a:t>Backend API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/>
              <a:t>Tech Stack:</a:t>
            </a:r>
            <a:r>
              <a:rPr>
                <a:solidFill>
                  <a:srgbClr val="475569"/>
                </a:solidFill>
              </a:rPr>
              <a:t> FastAPI framework, Scikit-learn regressors, Uvicorn, Pandas.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/>
              <a:t>Production:</a:t>
            </a:r>
            <a:r>
              <a:rPr>
                <a:solidFill>
                  <a:srgbClr val="475569"/>
                </a:solidFill>
              </a:rPr>
              <a:t> Hosted on Render cloud container service.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/>
              <a:t>Real-Time Sync:</a:t>
            </a:r>
            <a:r>
              <a:rPr>
                <a:solidFill>
                  <a:srgbClr val="475569"/>
                </a:solidFill>
              </a:rPr>
              <a:t> Employs persistent WebSockets stream for state broadcasts.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011680"/>
            <a:ext cx="3291840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2194560"/>
            <a:ext cx="32918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  <a:latin typeface="Arial"/>
              </a:defRPr>
            </a:pPr>
            <a:r>
              <a:t>Database Model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/>
              <a:t>Storage:</a:t>
            </a:r>
            <a:r>
              <a:rPr>
                <a:solidFill>
                  <a:srgbClr val="475569"/>
                </a:solidFill>
              </a:rPr>
              <a:t> Local JSON database cache (`inventory_db.json`).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/>
              <a:t>Backup:</a:t>
            </a:r>
            <a:r>
              <a:rPr>
                <a:solidFill>
                  <a:srgbClr val="475569"/>
                </a:solidFill>
              </a:rPr>
              <a:t> Automatically writes state updates to disk synchronously upon transactions.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/>
              <a:t>Seeding:</a:t>
            </a:r>
            <a:r>
              <a:rPr>
                <a:solidFill>
                  <a:srgbClr val="475569"/>
                </a:solidFill>
              </a:rPr>
              <a:t> Generates realistic demand histories on boot if missing.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EMPIRICAL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Georgia"/>
              </a:defRPr>
            </a:pPr>
            <a:r>
              <a:t>Validation Performance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011680"/>
          <a:ext cx="62179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280160"/>
                <a:gridCol w="1280160"/>
                <a:gridCol w="1280160"/>
              </a:tblGrid>
              <a:tr h="5791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R² Score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OLS Linear Regression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6.84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8.21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0.3542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Decision Tree Regressor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0.6890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Random Forest Regressor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2.45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3.32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0.8841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HistGradientBoosting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0.9102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F46E5"/>
                          </a:solidFill>
                          <a:latin typeface="Arial"/>
                        </a:defRPr>
                      </a:pPr>
                      <a:r>
                        <a:t>Hybrid Ensemble Winner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Arial"/>
                        </a:defRPr>
                      </a:pPr>
                      <a:r>
                        <a:t>1.94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Arial"/>
                        </a:defRPr>
                      </a:pPr>
                      <a:r>
                        <a:t>2.62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Arial"/>
                        </a:defRPr>
                      </a:pPr>
                      <a:r>
                        <a:t>0.9315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0" y="2011680"/>
            <a:ext cx="41148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4F46E5"/>
                </a:solidFill>
                <a:latin typeface="Georgia"/>
              </a:defRPr>
            </a:pPr>
            <a:r>
              <a:t>Key Metrics Insight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/>
              <a:t>Hybrid Ensemble Leads:</a:t>
            </a:r>
            <a:r>
              <a:rPr>
                <a:solidFill>
                  <a:srgbClr val="475569"/>
                </a:solidFill>
              </a:rPr>
              <a:t> Evaluates at an R² of 0.9315, explaining the vast majority of demand variance and ensuring tight rebalancing margins.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/>
              <a:t>Random Forest Stability:</a:t>
            </a:r>
            <a:r>
              <a:rPr>
                <a:solidFill>
                  <a:srgbClr val="475569"/>
                </a:solidFill>
              </a:rPr>
              <a:t> Delivers a solid 0.8841 R², acting as the primary anchor against overfitting on erratic high-volume spikes.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/>
              <a:t>HGB Efficiency:</a:t>
            </a:r>
            <a:r>
              <a:rPr>
                <a:solidFill>
                  <a:srgbClr val="475569"/>
                </a:solidFill>
              </a:rPr>
              <a:t> Fast training speeds and histogram binning enable instantaneous retrain loops in response to new WebSocket sales streams.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PROJECT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Georgia"/>
              </a:defRPr>
            </a:pPr>
            <a:r>
              <a:t>Strategic Outcomes &amp; Future Horizons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spcAft>
                <a:spcPts val="1400"/>
              </a:spcAft>
              <a:defRPr sz="2000" b="1">
                <a:solidFill>
                  <a:srgbClr val="0D9488"/>
                </a:solidFill>
                <a:latin typeface="Arial"/>
              </a:defRPr>
            </a:pPr>
            <a:r>
              <a:t>🎯 Operational Outcomes</a:t>
            </a:r>
          </a:p>
          <a:p>
            <a:pPr>
              <a:spcBef>
                <a:spcPts val="800"/>
              </a:spcBef>
              <a:defRPr sz="14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/>
              <a:t>Reduced Stockouts:</a:t>
            </a:r>
            <a:r>
              <a:rPr>
                <a:solidFill>
                  <a:srgbClr val="475569"/>
                </a:solidFill>
              </a:rPr>
              <a:t> Predictive alerts identify deficits before they impact sales, protecting revenue.</a:t>
            </a:r>
          </a:p>
          <a:p>
            <a:pPr>
              <a:spcBef>
                <a:spcPts val="800"/>
              </a:spcBef>
              <a:defRPr sz="14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/>
              <a:t>Minimized Warehousing:</a:t>
            </a:r>
            <a:r>
              <a:rPr>
                <a:solidFill>
                  <a:srgbClr val="475569"/>
                </a:solidFill>
              </a:rPr>
              <a:t> Dynamic inter-hub rebalancing reduces overstock holding costs.</a:t>
            </a:r>
          </a:p>
          <a:p>
            <a:pPr>
              <a:spcBef>
                <a:spcPts val="800"/>
              </a:spcBef>
              <a:defRPr sz="14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/>
              <a:t>Automated Coordination:</a:t>
            </a:r>
            <a:r>
              <a:rPr>
                <a:solidFill>
                  <a:srgbClr val="475569"/>
                </a:solidFill>
              </a:rPr>
              <a:t> Direct factory restocking bypasses manual approval delays.</a:t>
            </a:r>
          </a:p>
          <a:p>
            <a:pPr>
              <a:spcBef>
                <a:spcPts val="800"/>
              </a:spcBef>
              <a:defRPr sz="14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/>
              <a:t>Environmental Adaptability:</a:t>
            </a:r>
            <a:r>
              <a:rPr>
                <a:solidFill>
                  <a:srgbClr val="475569"/>
                </a:solidFill>
              </a:rPr>
              <a:t> Climate-aware safety buffers protect the logistics chain against extreme weather.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493776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182880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spcAft>
                <a:spcPts val="1400"/>
              </a:spcAft>
              <a:defRPr sz="2000" b="1">
                <a:solidFill>
                  <a:srgbClr val="4F46E5"/>
                </a:solidFill>
                <a:latin typeface="Arial"/>
              </a:defRPr>
            </a:pPr>
            <a:r>
              <a:t>🚀 Future Enhancement Scope</a:t>
            </a:r>
          </a:p>
          <a:p>
            <a:pPr>
              <a:spcBef>
                <a:spcPts val="800"/>
              </a:spcBef>
              <a:defRPr sz="14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/>
              <a:t>Multi-Echelon Optimization:</a:t>
            </a:r>
            <a:r>
              <a:rPr>
                <a:solidFill>
                  <a:srgbClr val="475569"/>
                </a:solidFill>
              </a:rPr>
              <a:t> Dynamic rebalancing across factory tiers, regional hubs, and local retail outlets.</a:t>
            </a:r>
          </a:p>
          <a:p>
            <a:pPr>
              <a:spcBef>
                <a:spcPts val="800"/>
              </a:spcBef>
              <a:defRPr sz="14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/>
              <a:t>Eco-Routing Integration:</a:t>
            </a:r>
            <a:r>
              <a:rPr>
                <a:solidFill>
                  <a:srgbClr val="475569"/>
                </a:solidFill>
              </a:rPr>
              <a:t> Carbon emission minimization modeling inside the dispatch route selection.</a:t>
            </a:r>
          </a:p>
          <a:p>
            <a:pPr>
              <a:spcBef>
                <a:spcPts val="800"/>
              </a:spcBef>
              <a:defRPr sz="14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/>
              <a:t>Advanced Telemetry:</a:t>
            </a:r>
            <a:r>
              <a:rPr>
                <a:solidFill>
                  <a:srgbClr val="475569"/>
                </a:solidFill>
              </a:rPr>
              <a:t> Real-time traffic flows, holiday calendars, and geopolitical news feed parsing.</a:t>
            </a:r>
          </a:p>
          <a:p>
            <a:pPr>
              <a:spcBef>
                <a:spcPts val="800"/>
              </a:spcBef>
              <a:defRPr sz="1400">
                <a:solidFill>
                  <a:srgbClr val="0F172A"/>
                </a:solidFill>
                <a:latin typeface="Arial"/>
              </a:defRPr>
            </a:pPr>
            <a:r>
              <a:t>• </a:t>
            </a:r>
            <a:r>
              <a:rPr b="1"/>
              <a:t>Reinforcement Learning:</a:t>
            </a:r>
            <a:r>
              <a:rPr>
                <a:solidFill>
                  <a:srgbClr val="475569"/>
                </a:solidFill>
              </a:rPr>
              <a:t> Fully automated replenishment agents that learn order quantities by maximizing long-term reward.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828800"/>
            <a:ext cx="493776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