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F8FAFC"/>
                </a:solidFill>
                <a:latin typeface="Calibri"/>
              </a:defRPr>
            </a:pPr>
            <a:r>
              <a:t>OmniOpt AI</a:t>
            </a:r>
          </a:p>
          <a:p>
            <a:pPr>
              <a:spcBef>
                <a:spcPts val="1000"/>
              </a:spcBef>
              <a:defRPr sz="2800">
                <a:solidFill>
                  <a:srgbClr val="0EA5E9"/>
                </a:solidFill>
                <a:latin typeface="Calibri"/>
              </a:defRPr>
            </a:pPr>
            <a:r>
              <a:t>Predictive Logistics &amp; Fulfillment Platform</a:t>
            </a:r>
          </a:p>
          <a:p>
            <a:pPr>
              <a:spcBef>
                <a:spcPts val="4000"/>
              </a:spcBef>
              <a:defRPr sz="1600">
                <a:solidFill>
                  <a:srgbClr val="94A3B8"/>
                </a:solidFill>
                <a:latin typeface="Calibri"/>
              </a:defRPr>
            </a:pPr>
            <a:r>
              <a:t>Staff Operations Guide &amp; System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MARKET PAIN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Logistics Challenge We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423160" cy="3840480"/>
          </a:xfrm>
          <a:prstGeom prst="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4B8A6"/>
                </a:solidFill>
                <a:latin typeface="Calibri"/>
              </a:defRPr>
            </a:pPr>
            <a:r>
              <a:t>01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1800" b="1">
                <a:solidFill>
                  <a:srgbClr val="F8FAFC"/>
                </a:solidFill>
                <a:latin typeface="Calibri"/>
              </a:defRPr>
            </a:pPr>
            <a:r>
              <a:t>Stockout vs Overstock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Imbalances lead to lost sales or high storage costs. Manual restocks are slow and error-prone.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2423160" cy="38404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28600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4B8A6"/>
                </a:solidFill>
                <a:latin typeface="Calibri"/>
              </a:defRPr>
            </a:pPr>
            <a:r>
              <a:t>02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1800" b="1">
                <a:solidFill>
                  <a:srgbClr val="F8FAFC"/>
                </a:solidFill>
                <a:latin typeface="Calibri"/>
              </a:defRPr>
            </a:pPr>
            <a:r>
              <a:t>Static Reordering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Traditional inventory management uses static reorder points that do not adapt to fast-changing demand velocity.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2423160" cy="38404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4B8A6"/>
                </a:solidFill>
                <a:latin typeface="Calibri"/>
              </a:defRPr>
            </a:pPr>
            <a:r>
              <a:t>03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1800" b="1">
                <a:solidFill>
                  <a:srgbClr val="F8FAFC"/>
                </a:solidFill>
                <a:latin typeface="Calibri"/>
              </a:defRPr>
            </a:pPr>
            <a:r>
              <a:t>Environmental Factors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Weather shifts (heatwaves, heavy rain) and regional trends drastically shift demand overnight without warning.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011680"/>
            <a:ext cx="2423160" cy="38404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28600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4B8A6"/>
                </a:solidFill>
                <a:latin typeface="Calibri"/>
              </a:defRPr>
            </a:pPr>
            <a:r>
              <a:t>04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1800" b="1">
                <a:solidFill>
                  <a:srgbClr val="F8FAFC"/>
                </a:solidFill>
                <a:latin typeface="Calibri"/>
              </a:defRPr>
            </a:pPr>
            <a:r>
              <a:t>Fulfillment Friction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Inefficient inter-hub shipping routes and delayed factory restock coordination degrade delivery speeds.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System Architecture &amp;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468880" cy="36576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1. Live Sales Feed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200" b="1">
                <a:solidFill>
                  <a:srgbClr val="14B8A6"/>
                </a:solidFill>
                <a:latin typeface="Calibri"/>
              </a:defRPr>
            </a:pPr>
            <a:r>
              <a:t>WebSockets Simulator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Streams real-time sales from Amazon, Myntra, Flipkart, Meesho every 3 seconds.</a:t>
            </a:r>
          </a:p>
        </p:txBody>
      </p:sp>
      <p:sp>
        <p:nvSpPr>
          <p:cNvPr id="6" name="Left Arrow 5"/>
          <p:cNvSpPr/>
          <p:nvPr/>
        </p:nvSpPr>
        <p:spPr>
          <a:xfrm>
            <a:off x="3246120" y="3657600"/>
            <a:ext cx="182880" cy="365760"/>
          </a:xfrm>
          <a:prstGeom prst="lef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2468880" cy="36576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286000"/>
            <a:ext cx="2103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2. Predictive Brain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200" b="1">
                <a:solidFill>
                  <a:srgbClr val="14B8A6"/>
                </a:solidFill>
                <a:latin typeface="Calibri"/>
              </a:defRPr>
            </a:pPr>
            <a:r>
              <a:t>Hybrid ML Ensemble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Forecasts regional demand utilizing Scikit-learn HGB and Random Forest regressors.</a:t>
            </a:r>
          </a:p>
        </p:txBody>
      </p:sp>
      <p:sp>
        <p:nvSpPr>
          <p:cNvPr id="9" name="Left Arrow 8"/>
          <p:cNvSpPr/>
          <p:nvPr/>
        </p:nvSpPr>
        <p:spPr>
          <a:xfrm>
            <a:off x="5989320" y="3657600"/>
            <a:ext cx="182880" cy="365760"/>
          </a:xfrm>
          <a:prstGeom prst="lef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2468880" cy="36576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2103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3. Decision Engine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200" b="1">
                <a:solidFill>
                  <a:srgbClr val="14B8A6"/>
                </a:solidFill>
                <a:latin typeface="Calibri"/>
              </a:defRPr>
            </a:pPr>
            <a:r>
              <a:t>Inventory Logic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Auto-detects stockouts; rebalances from surplus hubs or requests factory orders.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732520" y="3657600"/>
            <a:ext cx="182880" cy="365760"/>
          </a:xfrm>
          <a:prstGeom prst="lef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2011680"/>
            <a:ext cx="2468880" cy="36576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286000"/>
            <a:ext cx="2103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4. Fulfillment Map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200" b="1">
                <a:solidFill>
                  <a:srgbClr val="14B8A6"/>
                </a:solidFill>
                <a:latin typeface="Calibri"/>
              </a:defRPr>
            </a:pPr>
            <a:r>
              <a:t>Routing Engine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Visualizes center coordinates, dispatch paths, restock countdowns via Leaflet.js.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MACHINE LEARNING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Intelligent Ensemble Demand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4B8A6"/>
                </a:solidFill>
                <a:latin typeface="Calibri"/>
              </a:defRPr>
            </a:pPr>
            <a:r>
              <a:t>Hybrid Ensemble Model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We combine two state-of-the-art regressors to balance local precision and global generalization: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HistGradientBoosting (60% Weight):</a:t>
            </a:r>
            <a:r>
              <a:rPr>
                <a:solidFill>
                  <a:srgbClr val="94A3B8"/>
                </a:solidFill>
              </a:rPr>
              <a:t> Handles large-scale numeric datasets and non-linear patterns at lightning speed.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RandomForest (40% Weight):</a:t>
            </a:r>
            <a:r>
              <a:rPr>
                <a:solidFill>
                  <a:srgbClr val="94A3B8"/>
                </a:solidFill>
              </a:rPr>
              <a:t> Prevents overfitting, ensuring reliable projections even with erratic sales peaks.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Advanced Feature Engineering:</a:t>
            </a:r>
            <a:r>
              <a:rPr>
                <a:solidFill>
                  <a:srgbClr val="94A3B8"/>
                </a:solidFill>
              </a:rPr>
              <a:t> Models use historical baselines, monthly/weekly seasonality, and active store prices to predict sales.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103120"/>
            <a:ext cx="44805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1">
                <a:solidFill>
                  <a:srgbClr val="94A3B8"/>
                </a:solidFill>
                <a:latin typeface="Calibri"/>
              </a:defRPr>
            </a:pPr>
            <a:r>
              <a:t>PREDICTION ACCURACY</a:t>
            </a:r>
          </a:p>
          <a:p>
            <a:pPr algn="ctr">
              <a:spcBef>
                <a:spcPts val="0"/>
              </a:spcBef>
              <a:defRPr sz="8800" b="1">
                <a:solidFill>
                  <a:srgbClr val="14B8A6"/>
                </a:solidFill>
                <a:latin typeface="Calibri"/>
              </a:defRPr>
            </a:pPr>
            <a:r>
              <a:t>94.6%</a:t>
            </a:r>
          </a:p>
          <a:p>
            <a:pPr algn="ctr">
              <a:spcBef>
                <a:spcPts val="0"/>
              </a:spcBef>
              <a:defRPr sz="1600" b="1">
                <a:solidFill>
                  <a:srgbClr val="F8FAFC"/>
                </a:solidFill>
                <a:latin typeface="Calibri"/>
              </a:defRPr>
            </a:pPr>
            <a:r>
              <a:t>R² Coefficient of Determination</a:t>
            </a:r>
          </a:p>
          <a:p>
            <a:pPr algn="ctr">
              <a:spcBef>
                <a:spcPts val="20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Calculated across real-time multi-platform transaction logs. Retrained continuously on live sales.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REPLENISHMENT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Automated Rebalancing &amp; Factory restocks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4B8A6"/>
                </a:solidFill>
                <a:latin typeface="Calibri"/>
              </a:defRPr>
            </a:pPr>
            <a:r>
              <a:t>🔄 Inter-Hub Rebalancing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Identifies stock deficits at any hub automatically.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Scans geographic regions for nearby hubs with stock surplus.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Initiates direct inter-hub transfer (e.g. North Hub to West Hub).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Avoids redundant warehousing costs and minimizes transport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82880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EA5E9"/>
                </a:solidFill>
                <a:latin typeface="Calibri"/>
              </a:defRPr>
            </a:pPr>
            <a:r>
              <a:t>🏭 Direct Factory Restocking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Triggered when no nearby hubs have surplus stock.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Generates automated Factory Restock Order directly.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Real-time countdown tracker displays delivery time.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• Physical inventory is updated and locked only upon countdown arrival to ensure strict consistency.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ENVIRONMENTAL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Weather-Driven Dynamic Safety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EA5E9"/>
                </a:solidFill>
                <a:latin typeface="Calibri"/>
              </a:defRPr>
            </a:pPr>
            <a:r>
              <a:t>Open-Meteo API Integration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OmniOpt AI integrates real-time climate telemetry directly into forecasting, adjusting safety stock margins on-the-fly based on atmospheric conditions.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Rainfall Multiplier:</a:t>
            </a:r>
            <a:r>
              <a:rPr>
                <a:solidFill>
                  <a:srgbClr val="94A3B8"/>
                </a:solidFill>
              </a:rPr>
              <a:t> Increases safety buffers for waterproof gear, umbrellas, and select home-delivery goods by 1.25x.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Temperature Multiplier:</a:t>
            </a:r>
            <a:r>
              <a:rPr>
                <a:solidFill>
                  <a:srgbClr val="94A3B8"/>
                </a:solidFill>
              </a:rPr>
              <a:t> Heavy summer heatwaves trigger automatic 1.30x scaling for grocery, beverage, and cooling products.</a:t>
            </a:r>
          </a:p>
          <a:p>
            <a:pPr>
              <a:spcBef>
                <a:spcPts val="600"/>
              </a:spcBef>
              <a:defRPr sz="1400">
                <a:solidFill>
                  <a:srgbClr val="F8FAFC"/>
                </a:solidFill>
                <a:latin typeface="Calibri"/>
              </a:defRPr>
            </a:pPr>
            <a:r>
              <a:t>• </a:t>
            </a:r>
            <a:r>
              <a:rPr b="1">
                <a:solidFill>
                  <a:srgbClr val="F8FAFC"/>
                </a:solidFill>
              </a:rPr>
              <a:t>Risk Mitigation:</a:t>
            </a:r>
            <a:r>
              <a:rPr>
                <a:solidFill>
                  <a:srgbClr val="94A3B8"/>
                </a:solidFill>
              </a:rPr>
              <a:t> System automatically locks in higher safety stock during storms/extreme weather events to protect against road delays.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828800"/>
            <a:ext cx="4572000" cy="11887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Rain / Storms  |  </a:t>
            </a:r>
            <a:r>
              <a:rPr b="1">
                <a:solidFill>
                  <a:srgbClr val="14B8A6"/>
                </a:solidFill>
              </a:rPr>
              <a:t>1.25x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Clothing &amp; Delivery Items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3200400"/>
            <a:ext cx="4572000" cy="1188720"/>
          </a:xfrm>
          <a:prstGeom prst="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3832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Extreme Heat  |  </a:t>
            </a:r>
            <a:r>
              <a:rPr b="1">
                <a:solidFill>
                  <a:srgbClr val="14B8A6"/>
                </a:solidFill>
              </a:rPr>
              <a:t>1.30x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Groceries &amp; Beverages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4572000"/>
            <a:ext cx="4572000" cy="11887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47548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Default Climate  |  </a:t>
            </a:r>
            <a:r>
              <a:rPr b="1">
                <a:solidFill>
                  <a:srgbClr val="14B8A6"/>
                </a:solidFill>
              </a:rPr>
              <a:t>1.00x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Baseline Demand 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CONTROL CENTER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Operational Staff Dashboard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512064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8FAFC"/>
                </a:solidFill>
                <a:latin typeface="Calibri"/>
              </a:defRPr>
            </a:pPr>
            <a:r>
              <a:t>🗺️ Geographic Route Engine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Interactive Leaflet.js map. Shows fulfillment hubs (North, South, East, West) and displays route geometry overlay during active stock dispatches.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12064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8FAFC"/>
                </a:solidFill>
                <a:latin typeface="Calibri"/>
              </a:defRPr>
            </a:pPr>
            <a:r>
              <a:t>📊 Real-Time Forecasting Grid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Displays tomorrow's projected demand against current inventory. Highlights under-stocked categories in bright warning orange.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23360"/>
            <a:ext cx="512064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8FAFC"/>
                </a:solidFill>
                <a:latin typeface="Calibri"/>
              </a:defRPr>
            </a:pPr>
            <a:r>
              <a:t>🔔 Active Transit Panel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Tracks inbound restocks and transfers. Real-time countdown clock ticks down. Prevents staff from double-ordering identical stock items.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023360"/>
            <a:ext cx="512064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2062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8FAFC"/>
                </a:solidFill>
                <a:latin typeface="Calibri"/>
              </a:defRPr>
            </a:pPr>
            <a:r>
              <a:t>📈 Live E-Commerce Simulator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Simulates continuous online purchases (Amazon, Flipkart, etc.) decrementing physical inventory. Retrains ML engine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DEPLOYMENT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alibri"/>
              </a:defRPr>
            </a:pPr>
            <a:r>
              <a:t>Platform Architecture &amp; Deployments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2918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260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4B8A6"/>
                </a:solidFill>
                <a:latin typeface="Calibri"/>
              </a:defRPr>
            </a:pPr>
            <a:r>
              <a:t>Frontend Client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Tech: HTML5, TailwindCSS, Chart.js, Leaflet.js mapping.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Production: Hosted statically on GitHub Pages.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Fallback mode: Connects to local JSON data model dynamically if backend API drops.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828800"/>
            <a:ext cx="32918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29260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EA5E9"/>
                </a:solidFill>
                <a:latin typeface="Calibri"/>
              </a:defRPr>
            </a:pPr>
            <a:r>
              <a:t>Backend Server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Tech: FastAPI framework, Scikit-learn regressors, Uvicorn, Pandas.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Production: Hosted on Render cloud container service.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Real-Time Sync: Employs persistent WebSockets stream for state broadcasts.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828800"/>
            <a:ext cx="338328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301752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Calibri"/>
              </a:defRPr>
            </a:pPr>
            <a:r>
              <a:t>Database Model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Model: Portable JSON structure (inventory_db.json).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Backup: Auto-commits updates dynamically on action/sales updates.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• Seeding: Auto-generates realistic sales history on boot if missing.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